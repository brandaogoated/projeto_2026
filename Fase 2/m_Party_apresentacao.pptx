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6" r:id="rId6"/>
    <p:sldId id="261" r:id="rId7"/>
    <p:sldId id="263" r:id="rId8"/>
    <p:sldId id="267" r:id="rId9"/>
    <p:sldId id="268" r:id="rId10"/>
    <p:sldId id="269" r:id="rId11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5020" autoAdjust="0"/>
  </p:normalViewPr>
  <p:slideViewPr>
    <p:cSldViewPr snapToGrid="0" snapToObjects="1">
      <p:cViewPr varScale="1">
        <p:scale>
          <a:sx n="78" d="100"/>
          <a:sy n="78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1"/>
  <c:style val="2"/>
  <c:chart>
    <c:title>
      <c:tx>
        <c:rich>
          <a:bodyPr/>
          <a:lstStyle/>
          <a:p>
            <a:r>
              <a:rPr lang="pt-PT" sz="1300" b="1" dirty="0">
                <a:solidFill>
                  <a:srgbClr val="0B3C49"/>
                </a:solidFill>
              </a:rPr>
              <a:t>Classes funcionais no </a:t>
            </a:r>
            <a:r>
              <a:rPr lang="pt-PT" sz="1300" b="1" dirty="0" err="1">
                <a:solidFill>
                  <a:srgbClr val="0B3C49"/>
                </a:solidFill>
              </a:rPr>
              <a:t>PAZy</a:t>
            </a:r>
            <a:endParaRPr lang="pt-PT" sz="1300" b="1" dirty="0">
              <a:solidFill>
                <a:srgbClr val="0B3C49"/>
              </a:solidFill>
            </a:endParaRP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Nº (n=320)</c:v>
                </c:pt>
              </c:strCache>
            </c:strRef>
          </c:tx>
          <c:spPr>
            <a:solidFill>
              <a:srgbClr val="028090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rgbClr val="1A2E35"/>
                    </a:solidFill>
                  </a:defRPr>
                </a:pPr>
                <a:endParaRPr lang="pt-P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MHETase</c:v>
                </c:pt>
                <c:pt idx="1">
                  <c:v>BHETase</c:v>
                </c:pt>
                <c:pt idx="2">
                  <c:v>Lipase</c:v>
                </c:pt>
                <c:pt idx="3">
                  <c:v>TfH/BTA hydrolase</c:v>
                </c:pt>
                <c:pt idx="4">
                  <c:v>LCC-like cutinase</c:v>
                </c:pt>
                <c:pt idx="5">
                  <c:v>Carboxylesterase</c:v>
                </c:pt>
                <c:pt idx="6">
                  <c:v>Cutinase</c:v>
                </c:pt>
                <c:pt idx="7">
                  <c:v>PETase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1</c:v>
                </c:pt>
                <c:pt idx="2">
                  <c:v>8</c:v>
                </c:pt>
                <c:pt idx="3">
                  <c:v>8</c:v>
                </c:pt>
                <c:pt idx="4">
                  <c:v>8</c:v>
                </c:pt>
                <c:pt idx="5">
                  <c:v>11</c:v>
                </c:pt>
                <c:pt idx="6">
                  <c:v>33</c:v>
                </c:pt>
                <c:pt idx="7">
                  <c:v>247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E0C-4F0F-9E91-6C1B17AE52C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pt-PT" sz="1300" b="1" noProof="0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taxonómica (Filo)</a:t>
            </a:r>
            <a:endParaRPr lang="pt-PT" sz="1300" noProof="0" dirty="0"/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Filos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BE7-4276-86E1-D0BF62914217}"/>
              </c:ext>
            </c:extLst>
          </c:dPt>
          <c:dPt>
            <c:idx val="1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BE7-4276-86E1-D0BF62914217}"/>
              </c:ext>
            </c:extLst>
          </c:dPt>
          <c:dPt>
            <c:idx val="2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BE7-4276-86E1-D0BF62914217}"/>
              </c:ext>
            </c:extLst>
          </c:dPt>
          <c:dPt>
            <c:idx val="3"/>
            <c:bubble3D val="0"/>
            <c:spPr>
              <a:solidFill>
                <a:srgbClr val="F2C14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BE7-4276-86E1-D0BF62914217}"/>
              </c:ext>
            </c:extLst>
          </c:dPt>
          <c:dPt>
            <c:idx val="4"/>
            <c:bubble3D val="0"/>
            <c:spPr>
              <a:solidFill>
                <a:srgbClr val="B0BEC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BE7-4276-86E1-D0BF62914217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PT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BE7-4276-86E1-D0BF62914217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PT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BE7-4276-86E1-D0BF62914217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PT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BE7-4276-86E1-D0BF62914217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PT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BE7-4276-86E1-D0BF62914217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PT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BE7-4276-86E1-D0BF6291421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PT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Actinomycetota</c:v>
                </c:pt>
                <c:pt idx="1">
                  <c:v>Pseudomonadota</c:v>
                </c:pt>
                <c:pt idx="2">
                  <c:v>Bacillota</c:v>
                </c:pt>
                <c:pt idx="3">
                  <c:v>Ascomycota</c:v>
                </c:pt>
                <c:pt idx="4">
                  <c:v>Outros (9 filos)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212</c:v>
                </c:pt>
                <c:pt idx="1">
                  <c:v>50</c:v>
                </c:pt>
                <c:pt idx="2">
                  <c:v>14</c:v>
                </c:pt>
                <c:pt idx="3">
                  <c:v>7</c:v>
                </c:pt>
                <c:pt idx="4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BBE7-4276-86E1-D0BF629142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5448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1097280"/>
            <a:ext cx="3200400" cy="320040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  <p:txBody>
          <a:bodyPr/>
          <a:lstStyle/>
          <a:p>
            <a:endParaRPr lang="pt-PT" noProof="0" dirty="0"/>
          </a:p>
        </p:txBody>
      </p:sp>
      <p:sp>
        <p:nvSpPr>
          <p:cNvPr id="3" name="Shape 1"/>
          <p:cNvSpPr/>
          <p:nvPr/>
        </p:nvSpPr>
        <p:spPr>
          <a:xfrm>
            <a:off x="10789920" y="4754880"/>
            <a:ext cx="2743200" cy="2743200"/>
          </a:xfrm>
          <a:prstGeom prst="ellipse">
            <a:avLst/>
          </a:prstGeom>
          <a:solidFill>
            <a:srgbClr val="00A896">
              <a:alpha val="30000"/>
            </a:srgbClr>
          </a:solidFill>
          <a:ln/>
        </p:spPr>
        <p:txBody>
          <a:bodyPr/>
          <a:lstStyle/>
          <a:p>
            <a:endParaRPr lang="pt-PT" noProof="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9601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pt-PT" sz="2900" b="1" noProof="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Improving</a:t>
            </a:r>
            <a:r>
              <a:rPr lang="pt-PT" sz="29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pt-PT" sz="2900" b="1" noProof="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Bioinformatic</a:t>
            </a:r>
            <a:r>
              <a:rPr lang="pt-PT" sz="29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pt-PT" sz="2900" b="1" noProof="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</a:t>
            </a:r>
            <a:r>
              <a:rPr lang="pt-PT" sz="29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for </a:t>
            </a:r>
            <a:r>
              <a:rPr lang="pt-PT" sz="2900" b="1" noProof="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</a:t>
            </a:r>
            <a:r>
              <a:rPr lang="pt-PT" sz="29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pt-PT" sz="2900" b="1" noProof="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Discovery</a:t>
            </a:r>
            <a:r>
              <a:rPr lang="pt-PT" sz="29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pt-PT" sz="2900" b="1" noProof="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</a:t>
            </a:r>
            <a:r>
              <a:rPr lang="pt-PT" sz="29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pt-PT" sz="2900" b="1" noProof="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Plastic-Degrading</a:t>
            </a:r>
            <a:r>
              <a:rPr lang="pt-PT" sz="29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pt-PT" sz="2900" b="1" noProof="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Enzymes</a:t>
            </a:r>
            <a:r>
              <a:rPr lang="pt-PT" sz="29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pt-PT" sz="2900" b="1" noProof="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</a:t>
            </a:r>
            <a:r>
              <a:rPr lang="pt-PT" sz="29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pt-PT" sz="2900" b="1" noProof="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Environmental</a:t>
            </a:r>
            <a:r>
              <a:rPr lang="pt-PT" sz="29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pt-PT" sz="2900" b="1" noProof="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Metagenomes</a:t>
            </a:r>
            <a:endParaRPr lang="pt-PT" sz="29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3794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PT" sz="1700" i="1" noProof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e aplicação da ferramenta M-PARTY</a:t>
            </a:r>
            <a:endParaRPr lang="pt-PT" sz="1700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457200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PT" sz="1400" noProof="0" dirty="0">
                <a:solidFill>
                  <a:srgbClr val="CFE8E8"/>
                </a:solidFill>
              </a:rPr>
              <a:t>David Brandão</a:t>
            </a:r>
            <a:endParaRPr lang="pt-PT" sz="1400" noProof="0" dirty="0"/>
          </a:p>
          <a:p>
            <a:r>
              <a:rPr lang="pt-PT" sz="1200" noProof="0" dirty="0">
                <a:solidFill>
                  <a:srgbClr val="9FC5C5"/>
                </a:solidFill>
              </a:rPr>
              <a:t>Orientadores:</a:t>
            </a:r>
            <a:r>
              <a:rPr lang="pt-PT" sz="1200" dirty="0">
                <a:solidFill>
                  <a:srgbClr val="9FC5C5"/>
                </a:solidFill>
              </a:rPr>
              <a:t> Doutora Andreia Salvador, José Freitas e Diogo Cachetas.</a:t>
            </a:r>
            <a:endParaRPr lang="pt-PT" sz="1200" noProof="0" dirty="0">
              <a:solidFill>
                <a:srgbClr val="9FC5C5"/>
              </a:solidFill>
            </a:endParaRPr>
          </a:p>
          <a:p>
            <a:pPr marL="0" indent="0">
              <a:buNone/>
            </a:pPr>
            <a:r>
              <a:rPr lang="pt-PT" sz="1200" noProof="0" dirty="0">
                <a:solidFill>
                  <a:srgbClr val="9FC5C5"/>
                </a:solidFill>
              </a:rPr>
              <a:t>Mestrado em Bioinformática Médica · Universidade do Minho · 2026</a:t>
            </a:r>
            <a:endParaRPr lang="pt-PT" sz="14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PT" sz="2600" b="1" dirty="0">
                <a:solidFill>
                  <a:srgbClr val="0B3C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r>
              <a:rPr lang="pt-PT" sz="2600" b="1" noProof="0" dirty="0" err="1">
                <a:solidFill>
                  <a:srgbClr val="0B3C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icroplásticos</a:t>
            </a:r>
            <a:r>
              <a:rPr lang="pt-PT" sz="2600" b="1" noProof="0" dirty="0">
                <a:solidFill>
                  <a:srgbClr val="0B3C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e enzimas</a:t>
            </a:r>
            <a:endParaRPr lang="pt-PT" sz="2600" noProof="0" dirty="0"/>
          </a:p>
        </p:txBody>
      </p:sp>
      <p:sp>
        <p:nvSpPr>
          <p:cNvPr id="3" name="Text 1"/>
          <p:cNvSpPr/>
          <p:nvPr/>
        </p:nvSpPr>
        <p:spPr>
          <a:xfrm>
            <a:off x="11155680" y="3657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pt-PT" sz="1400" b="1" noProof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pt-PT" sz="1400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5" name="Shape 3"/>
          <p:cNvSpPr/>
          <p:nvPr/>
        </p:nvSpPr>
        <p:spPr>
          <a:xfrm>
            <a:off x="8229600" y="2743200"/>
            <a:ext cx="3383280" cy="2103120"/>
          </a:xfrm>
          <a:prstGeom prst="roundRect">
            <a:avLst>
              <a:gd name="adj" fmla="val 5217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pt-PT" noProof="0" dirty="0"/>
          </a:p>
        </p:txBody>
      </p:sp>
      <p:sp>
        <p:nvSpPr>
          <p:cNvPr id="6" name="Text 4"/>
          <p:cNvSpPr/>
          <p:nvPr/>
        </p:nvSpPr>
        <p:spPr>
          <a:xfrm>
            <a:off x="8229600" y="288036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PT" sz="44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400 MT</a:t>
            </a:r>
            <a:endParaRPr lang="pt-PT" sz="4400" noProof="0" dirty="0"/>
          </a:p>
          <a:p>
            <a:pPr marL="0" indent="0" algn="ctr">
              <a:buNone/>
            </a:pPr>
            <a:r>
              <a:rPr lang="pt-PT" sz="1300" noProof="0" dirty="0">
                <a:solidFill>
                  <a:srgbClr val="DFF3F3"/>
                </a:solidFill>
              </a:rPr>
              <a:t>de plástico produzidas</a:t>
            </a:r>
            <a:endParaRPr lang="pt-PT" sz="4400" noProof="0" dirty="0"/>
          </a:p>
          <a:p>
            <a:pPr marL="0" indent="0" algn="ctr">
              <a:buNone/>
            </a:pPr>
            <a:r>
              <a:rPr lang="pt-PT" sz="1300" dirty="0">
                <a:solidFill>
                  <a:srgbClr val="DFF3F3"/>
                </a:solidFill>
              </a:rPr>
              <a:t>Em 2022.</a:t>
            </a:r>
            <a:r>
              <a:rPr lang="pt-PT" sz="1300" noProof="0" dirty="0">
                <a:solidFill>
                  <a:srgbClr val="DFF3F3"/>
                </a:solidFill>
              </a:rPr>
              <a:t> &lt;10% reciclado</a:t>
            </a:r>
            <a:endParaRPr lang="pt-PT" sz="44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0" y="49834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pt-PT" sz="900" noProof="0" dirty="0"/>
              <a:t>Fonte: </a:t>
            </a:r>
            <a:r>
              <a:rPr lang="pt-PT" sz="900" dirty="0"/>
              <a:t>https://www.nature.com/commsenv/</a:t>
            </a:r>
            <a:endParaRPr lang="pt-PT" sz="900" noProof="0" dirty="0"/>
          </a:p>
        </p:txBody>
      </p:sp>
      <p:sp>
        <p:nvSpPr>
          <p:cNvPr id="8" name="Text 6"/>
          <p:cNvSpPr/>
          <p:nvPr/>
        </p:nvSpPr>
        <p:spPr>
          <a:xfrm>
            <a:off x="579120" y="2880360"/>
            <a:ext cx="7315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pt-PT" sz="16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 aumento de plásticos no ambiente é um problema global, com impacto nos ecossistemas, na cadeia alimentar e na saúde humana.</a:t>
            </a:r>
            <a:endParaRPr lang="pt-PT" sz="1600" noProof="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pt-PT" sz="16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Uma forma de combater este problema é através de organismos que conseguem degradar estes plásticos.</a:t>
            </a:r>
            <a:endParaRPr lang="pt-PT" sz="1600" noProof="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pt-PT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pt-PT" sz="1600" noProof="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tualmente</a:t>
            </a:r>
            <a:r>
              <a:rPr lang="pt-PT" sz="16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não há nenhuma forma prática e sistemática de identificar organismos e enzimas com esta capacidade.</a:t>
            </a:r>
            <a:endParaRPr lang="pt-PT" sz="16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PT" sz="2600" b="1" noProof="0" dirty="0">
                <a:solidFill>
                  <a:srgbClr val="0B3C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Problema e oportunidade</a:t>
            </a:r>
            <a:endParaRPr lang="pt-PT" sz="2600" noProof="0" dirty="0"/>
          </a:p>
        </p:txBody>
      </p:sp>
      <p:sp>
        <p:nvSpPr>
          <p:cNvPr id="3" name="Text 1"/>
          <p:cNvSpPr/>
          <p:nvPr/>
        </p:nvSpPr>
        <p:spPr>
          <a:xfrm>
            <a:off x="11155680" y="3657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pt-PT" sz="1400" b="1" noProof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pt-PT" sz="1400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5" name="Text 3"/>
          <p:cNvSpPr/>
          <p:nvPr/>
        </p:nvSpPr>
        <p:spPr>
          <a:xfrm>
            <a:off x="640080" y="2491272"/>
            <a:ext cx="7498080" cy="2926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FontTx/>
              <a:buChar char="•"/>
            </a:pPr>
            <a:r>
              <a:rPr lang="pt-PT" sz="1600" dirty="0"/>
              <a:t>O problema é que a diversidade microbiana existente é vasta e pouco explorada relativamente à sua capacidade de degradar plásticos.</a:t>
            </a:r>
            <a:endParaRPr lang="pt-PT" sz="1600" noProof="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pt-PT" sz="16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Cada </a:t>
            </a:r>
            <a:r>
              <a:rPr lang="pt-PT" sz="1600" noProof="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metagenoma</a:t>
            </a:r>
            <a:r>
              <a:rPr lang="pt-PT" sz="16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tem milhões de </a:t>
            </a:r>
            <a:r>
              <a:rPr lang="pt-PT" sz="1600" noProof="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reads</a:t>
            </a:r>
            <a:r>
              <a:rPr lang="pt-PT" sz="16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e centenas de milhares de genes - só uma minoria de enzimas codifica plástico.</a:t>
            </a:r>
            <a:endParaRPr lang="pt-PT" sz="16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pt-PT" sz="16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Procurar estas enzimas manualmente não é viável para centenas de amostras nem capta homologia distante.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pt-PT" sz="16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Isto cria uma </a:t>
            </a:r>
            <a:r>
              <a:rPr lang="pt-PT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op</a:t>
            </a:r>
            <a:r>
              <a:rPr lang="pt-PT" sz="1600" noProof="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ortunidade</a:t>
            </a:r>
            <a:r>
              <a:rPr lang="pt-PT" sz="16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: integrar perfis HMM (sensíveis a homologia) com mapeamento direto de </a:t>
            </a:r>
            <a:r>
              <a:rPr lang="pt-PT" sz="1600" noProof="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reads</a:t>
            </a:r>
            <a:r>
              <a:rPr lang="pt-PT" sz="16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com objetivo de identificar enzimas que degradam plástico num pipeline único e reprodutível.</a:t>
            </a:r>
            <a:endParaRPr lang="pt-PT" sz="1600" noProof="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pt-PT" sz="16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É exatamente isto que o M-PARTY vai fazer.</a:t>
            </a:r>
            <a:endParaRPr lang="pt-PT" sz="1600" noProof="0" dirty="0"/>
          </a:p>
        </p:txBody>
      </p:sp>
      <p:sp>
        <p:nvSpPr>
          <p:cNvPr id="6" name="Shape 4"/>
          <p:cNvSpPr/>
          <p:nvPr/>
        </p:nvSpPr>
        <p:spPr>
          <a:xfrm>
            <a:off x="8442960" y="2491272"/>
            <a:ext cx="3200400" cy="2452081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7" name="Text 5"/>
          <p:cNvSpPr/>
          <p:nvPr/>
        </p:nvSpPr>
        <p:spPr>
          <a:xfrm>
            <a:off x="8534400" y="2925147"/>
            <a:ext cx="30175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pt-PT" sz="1300" noProof="0" dirty="0">
                <a:solidFill>
                  <a:srgbClr val="5A6B70"/>
                </a:solidFill>
              </a:rPr>
              <a:t>Milhões de </a:t>
            </a:r>
            <a:r>
              <a:rPr lang="pt-PT" sz="1300" noProof="0" dirty="0" err="1">
                <a:solidFill>
                  <a:srgbClr val="5A6B70"/>
                </a:solidFill>
              </a:rPr>
              <a:t>reads</a:t>
            </a:r>
            <a:endParaRPr lang="pt-PT" sz="1500" noProof="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pt-PT" sz="1800" noProof="0" dirty="0">
                <a:solidFill>
                  <a:srgbClr val="00A896"/>
                </a:solidFill>
              </a:rPr>
              <a:t>↓</a:t>
            </a:r>
            <a:endParaRPr lang="pt-PT" sz="1500" noProof="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pt-PT" sz="1300" b="1" noProof="0" dirty="0">
                <a:solidFill>
                  <a:srgbClr val="028090"/>
                </a:solidFill>
              </a:rPr>
              <a:t>M-PARTY (HMM + KMA)</a:t>
            </a:r>
            <a:endParaRPr lang="pt-PT" sz="1500" noProof="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pt-PT" sz="1800" noProof="0" dirty="0">
                <a:solidFill>
                  <a:srgbClr val="00A896"/>
                </a:solidFill>
              </a:rPr>
              <a:t>↓</a:t>
            </a:r>
            <a:endParaRPr lang="pt-PT" sz="1500" noProof="0" dirty="0"/>
          </a:p>
          <a:p>
            <a:pPr marL="0" indent="0" algn="ctr">
              <a:buNone/>
            </a:pPr>
            <a:r>
              <a:rPr lang="pt-PT" sz="1300" noProof="0" dirty="0">
                <a:solidFill>
                  <a:srgbClr val="1A2E35"/>
                </a:solidFill>
              </a:rPr>
              <a:t>Candidatos a enzimas que degradem plástico</a:t>
            </a:r>
            <a:endParaRPr lang="pt-PT" sz="15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PT" sz="2600" b="1" noProof="0" dirty="0">
                <a:solidFill>
                  <a:srgbClr val="0B3C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Objetivos do projeto</a:t>
            </a:r>
            <a:endParaRPr lang="pt-PT" sz="2600" noProof="0" dirty="0"/>
          </a:p>
        </p:txBody>
      </p:sp>
      <p:sp>
        <p:nvSpPr>
          <p:cNvPr id="3" name="Text 1"/>
          <p:cNvSpPr/>
          <p:nvPr/>
        </p:nvSpPr>
        <p:spPr>
          <a:xfrm>
            <a:off x="11155680" y="3657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pt-PT" sz="1400" b="1" noProof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pt-PT" sz="1400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PT" noProof="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PT" sz="22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pt-PT" sz="2200" noProof="0" dirty="0"/>
          </a:p>
        </p:txBody>
      </p:sp>
      <p:sp>
        <p:nvSpPr>
          <p:cNvPr id="7" name="Text 5"/>
          <p:cNvSpPr/>
          <p:nvPr/>
        </p:nvSpPr>
        <p:spPr>
          <a:xfrm>
            <a:off x="1645920" y="150876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PT" sz="1600" dirty="0"/>
              <a:t>Construir uma base de modelos HMM a partir de enzimas degradadoras de plástico</a:t>
            </a:r>
            <a:endParaRPr lang="pt-PT" sz="1600" noProof="0" dirty="0"/>
          </a:p>
        </p:txBody>
      </p:sp>
      <p:sp>
        <p:nvSpPr>
          <p:cNvPr id="8" name="Shape 6"/>
          <p:cNvSpPr/>
          <p:nvPr/>
        </p:nvSpPr>
        <p:spPr>
          <a:xfrm>
            <a:off x="731520" y="26060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PT" noProof="0" dirty="0"/>
          </a:p>
        </p:txBody>
      </p:sp>
      <p:sp>
        <p:nvSpPr>
          <p:cNvPr id="9" name="Text 7"/>
          <p:cNvSpPr/>
          <p:nvPr/>
        </p:nvSpPr>
        <p:spPr>
          <a:xfrm>
            <a:off x="731520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PT" sz="22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pt-PT" sz="2200" noProof="0" dirty="0"/>
          </a:p>
        </p:txBody>
      </p:sp>
      <p:sp>
        <p:nvSpPr>
          <p:cNvPr id="10" name="Text 8"/>
          <p:cNvSpPr/>
          <p:nvPr/>
        </p:nvSpPr>
        <p:spPr>
          <a:xfrm>
            <a:off x="1645920" y="25603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PT" sz="1600" dirty="0"/>
              <a:t>Validar o pipeline do M-PARTY </a:t>
            </a:r>
            <a:r>
              <a:rPr lang="pt-PT" sz="1600" dirty="0" err="1"/>
              <a:t>end</a:t>
            </a:r>
            <a:r>
              <a:rPr lang="pt-PT" sz="1600" dirty="0"/>
              <a:t>-to-</a:t>
            </a:r>
            <a:r>
              <a:rPr lang="pt-PT" sz="1600" dirty="0" err="1"/>
              <a:t>end</a:t>
            </a:r>
            <a:r>
              <a:rPr lang="pt-PT" sz="1600" dirty="0"/>
              <a:t>, garantindo que cada </a:t>
            </a:r>
            <a:r>
              <a:rPr lang="pt-PT" sz="1600" dirty="0" err="1"/>
              <a:t>workflow</a:t>
            </a:r>
            <a:r>
              <a:rPr lang="pt-PT" sz="1600" dirty="0"/>
              <a:t> corre sem erros.</a:t>
            </a:r>
            <a:endParaRPr lang="pt-PT" sz="1600" noProof="0" dirty="0"/>
          </a:p>
        </p:txBody>
      </p:sp>
      <p:sp>
        <p:nvSpPr>
          <p:cNvPr id="11" name="Shape 9"/>
          <p:cNvSpPr/>
          <p:nvPr/>
        </p:nvSpPr>
        <p:spPr>
          <a:xfrm>
            <a:off x="731520" y="36576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PT" noProof="0" dirty="0"/>
          </a:p>
        </p:txBody>
      </p:sp>
      <p:sp>
        <p:nvSpPr>
          <p:cNvPr id="12" name="Text 10"/>
          <p:cNvSpPr/>
          <p:nvPr/>
        </p:nvSpPr>
        <p:spPr>
          <a:xfrm>
            <a:off x="731520" y="3657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PT" sz="22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pt-PT" sz="2200" noProof="0" dirty="0"/>
          </a:p>
        </p:txBody>
      </p:sp>
      <p:sp>
        <p:nvSpPr>
          <p:cNvPr id="13" name="Text 11"/>
          <p:cNvSpPr/>
          <p:nvPr/>
        </p:nvSpPr>
        <p:spPr>
          <a:xfrm>
            <a:off x="1645920" y="361188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PT" sz="1600" dirty="0"/>
              <a:t>Aplicar o M-PARTY a </a:t>
            </a:r>
            <a:r>
              <a:rPr lang="pt-PT" sz="1600" dirty="0" err="1"/>
              <a:t>datasets</a:t>
            </a:r>
            <a:r>
              <a:rPr lang="pt-PT" sz="1600" dirty="0"/>
              <a:t> </a:t>
            </a:r>
            <a:r>
              <a:rPr lang="pt-PT" sz="1600" dirty="0" err="1"/>
              <a:t>metagenómicos</a:t>
            </a:r>
            <a:r>
              <a:rPr lang="pt-PT" sz="1600" dirty="0"/>
              <a:t> e identificar candidatos a enzimas degradadoras de PET.</a:t>
            </a:r>
            <a:endParaRPr lang="pt-PT" sz="1600" noProof="0" dirty="0"/>
          </a:p>
        </p:txBody>
      </p:sp>
      <p:sp>
        <p:nvSpPr>
          <p:cNvPr id="14" name="Shape 12"/>
          <p:cNvSpPr/>
          <p:nvPr/>
        </p:nvSpPr>
        <p:spPr>
          <a:xfrm>
            <a:off x="731520" y="47091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PT" noProof="0" dirty="0"/>
          </a:p>
        </p:txBody>
      </p:sp>
      <p:sp>
        <p:nvSpPr>
          <p:cNvPr id="15" name="Text 13"/>
          <p:cNvSpPr/>
          <p:nvPr/>
        </p:nvSpPr>
        <p:spPr>
          <a:xfrm>
            <a:off x="731520" y="4709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PT" sz="22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pt-PT" sz="2200" noProof="0" dirty="0"/>
          </a:p>
        </p:txBody>
      </p:sp>
      <p:sp>
        <p:nvSpPr>
          <p:cNvPr id="16" name="Text 14"/>
          <p:cNvSpPr/>
          <p:nvPr/>
        </p:nvSpPr>
        <p:spPr>
          <a:xfrm>
            <a:off x="1645920" y="46634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PT" sz="1600" dirty="0"/>
              <a:t>Preparar um pipeline reprodutível que suporte a publicação de um artigo científico.</a:t>
            </a:r>
            <a:endParaRPr lang="pt-PT" sz="16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3C49"/>
                </a:solidFill>
                <a:latin typeface="Trebuchet MS"/>
              </a:rPr>
              <a:t>A ferramenta M-PARTY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36576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028090"/>
                </a:solidFill>
              </a:rPr>
              <a:t>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88720"/>
            <a:ext cx="10515600" cy="0"/>
          </a:xfrm>
          <a:prstGeom prst="line">
            <a:avLst/>
          </a:prstGeom>
          <a:ln w="25400">
            <a:solidFill>
              <a:srgbClr val="00A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8640" y="1298448"/>
            <a:ext cx="11064240" cy="457200"/>
          </a:xfrm>
          <a:prstGeom prst="roundRect">
            <a:avLst/>
          </a:prstGeom>
          <a:solidFill>
            <a:srgbClr val="0B3C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Calibri"/>
              </a:rPr>
              <a:t>M-PARTY </a:t>
            </a:r>
            <a:r>
              <a:rPr sz="1200" b="1" dirty="0" err="1">
                <a:solidFill>
                  <a:srgbClr val="FFFFFF"/>
                </a:solidFill>
                <a:latin typeface="Calibri"/>
              </a:rPr>
              <a:t>recebe</a:t>
            </a:r>
            <a:r>
              <a:rPr sz="1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Calibri"/>
              </a:rPr>
              <a:t>proteínas</a:t>
            </a:r>
            <a:r>
              <a:rPr sz="1200" b="1" dirty="0">
                <a:solidFill>
                  <a:srgbClr val="FFFFFF"/>
                </a:solidFill>
                <a:latin typeface="Calibri"/>
              </a:rPr>
              <a:t> de interesse, </a:t>
            </a:r>
            <a:r>
              <a:rPr sz="1200" b="1" dirty="0" err="1">
                <a:solidFill>
                  <a:srgbClr val="FFFFFF"/>
                </a:solidFill>
                <a:latin typeface="Calibri"/>
              </a:rPr>
              <a:t>constrói</a:t>
            </a:r>
            <a:r>
              <a:rPr sz="1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Calibri"/>
              </a:rPr>
              <a:t>modelos</a:t>
            </a:r>
            <a:r>
              <a:rPr sz="1200" b="1" dirty="0">
                <a:solidFill>
                  <a:srgbClr val="FFFFFF"/>
                </a:solidFill>
                <a:latin typeface="Calibri"/>
              </a:rPr>
              <a:t> HMM e </a:t>
            </a:r>
            <a:r>
              <a:rPr sz="1200" b="1" dirty="0" err="1">
                <a:solidFill>
                  <a:srgbClr val="FFFFFF"/>
                </a:solidFill>
                <a:latin typeface="Calibri"/>
              </a:rPr>
              <a:t>procura</a:t>
            </a:r>
            <a:r>
              <a:rPr sz="1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Calibri"/>
              </a:rPr>
              <a:t>enzimas</a:t>
            </a:r>
            <a:r>
              <a:rPr sz="1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pt-PT" sz="1200" b="1" dirty="0">
                <a:solidFill>
                  <a:srgbClr val="FFFFFF"/>
                </a:solidFill>
                <a:latin typeface="Calibri"/>
              </a:rPr>
              <a:t>homologas </a:t>
            </a:r>
            <a:r>
              <a:rPr sz="1200" b="1" dirty="0" err="1">
                <a:solidFill>
                  <a:srgbClr val="FFFFFF"/>
                </a:solidFill>
                <a:latin typeface="Calibri"/>
              </a:rPr>
              <a:t>em</a:t>
            </a:r>
            <a:r>
              <a:rPr sz="1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Calibri"/>
              </a:rPr>
              <a:t>metagenomas</a:t>
            </a:r>
            <a:r>
              <a:rPr sz="1200" b="1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2651760" cy="1280160"/>
          </a:xfrm>
          <a:prstGeom prst="roundRect">
            <a:avLst>
              <a:gd name="adj" fmla="val 35617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50" b="1" dirty="0" err="1">
                <a:solidFill>
                  <a:srgbClr val="FFFFFF"/>
                </a:solidFill>
                <a:latin typeface="Calibri"/>
              </a:rPr>
              <a:t>Proteínas</a:t>
            </a:r>
            <a:r>
              <a:rPr sz="1050" b="1" dirty="0">
                <a:solidFill>
                  <a:srgbClr val="FFFFFF"/>
                </a:solidFill>
                <a:latin typeface="Calibri"/>
              </a:rPr>
              <a:t> de</a:t>
            </a:r>
          </a:p>
          <a:p>
            <a:pPr algn="ctr"/>
            <a:r>
              <a:rPr sz="1050" b="1" dirty="0">
                <a:solidFill>
                  <a:srgbClr val="FFFFFF"/>
                </a:solidFill>
                <a:latin typeface="Calibri"/>
              </a:rPr>
              <a:t>interesse</a:t>
            </a:r>
          </a:p>
          <a:p>
            <a:pPr algn="ctr"/>
            <a:r>
              <a:rPr sz="1050" b="1" dirty="0">
                <a:solidFill>
                  <a:srgbClr val="FFFFFF"/>
                </a:solidFill>
                <a:latin typeface="Calibri"/>
              </a:rPr>
              <a:t>(</a:t>
            </a:r>
            <a:r>
              <a:rPr sz="1050" b="1" dirty="0" err="1">
                <a:solidFill>
                  <a:srgbClr val="FFFFFF"/>
                </a:solidFill>
                <a:latin typeface="Calibri"/>
              </a:rPr>
              <a:t>PAZy</a:t>
            </a:r>
            <a:r>
              <a:rPr sz="1050" b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pt-PT" sz="1050" b="1" dirty="0">
                <a:solidFill>
                  <a:srgbClr val="FFFFFF"/>
                </a:solidFill>
                <a:latin typeface="Calibri"/>
              </a:rPr>
              <a:t>-</a:t>
            </a:r>
            <a:r>
              <a:rPr sz="1050" b="1" dirty="0">
                <a:solidFill>
                  <a:srgbClr val="FFFFFF"/>
                </a:solidFill>
                <a:latin typeface="Calibri"/>
              </a:rPr>
              <a:t> KEGG </a:t>
            </a:r>
            <a:r>
              <a:rPr lang="pt-PT" sz="1050" b="1" dirty="0">
                <a:solidFill>
                  <a:srgbClr val="FFFFFF"/>
                </a:solidFill>
                <a:latin typeface="Calibri"/>
              </a:rPr>
              <a:t>-</a:t>
            </a:r>
            <a:endParaRPr sz="1050" b="1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sz="1050" b="1" dirty="0" err="1">
                <a:solidFill>
                  <a:srgbClr val="FFFFFF"/>
                </a:solidFill>
                <a:latin typeface="Calibri"/>
              </a:rPr>
              <a:t>InterPro</a:t>
            </a:r>
            <a:r>
              <a:rPr lang="pt-PT" sz="1050" b="1" dirty="0">
                <a:solidFill>
                  <a:srgbClr val="FFFFFF"/>
                </a:solidFill>
                <a:latin typeface="Calibri"/>
              </a:rPr>
              <a:t> – </a:t>
            </a:r>
            <a:r>
              <a:rPr lang="pt-PT" sz="1050" b="1" dirty="0" err="1">
                <a:solidFill>
                  <a:srgbClr val="FFFFFF"/>
                </a:solidFill>
                <a:latin typeface="Calibri"/>
              </a:rPr>
              <a:t>Dataset</a:t>
            </a:r>
            <a:r>
              <a:rPr lang="pt-PT" sz="1050" b="1" dirty="0">
                <a:solidFill>
                  <a:srgbClr val="FFFFFF"/>
                </a:solidFill>
                <a:latin typeface="Calibri"/>
              </a:rPr>
              <a:t> Próprio</a:t>
            </a:r>
            <a:r>
              <a:rPr sz="1050" b="1" dirty="0">
                <a:solidFill>
                  <a:srgbClr val="FFFFFF"/>
                </a:solidFill>
                <a:latin typeface="Calibri"/>
              </a:rPr>
              <a:t>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46120" y="2423160"/>
            <a:ext cx="384048" cy="274320"/>
          </a:xfrm>
          <a:prstGeom prst="rightArrow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703320" y="1874519"/>
            <a:ext cx="7909560" cy="1371600"/>
          </a:xfrm>
          <a:prstGeom prst="roundRect">
            <a:avLst/>
          </a:prstGeom>
          <a:solidFill>
            <a:srgbClr val="F4F9F9"/>
          </a:solidFill>
          <a:ln w="254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703320" y="1874519"/>
            <a:ext cx="7909560" cy="347472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Calibri"/>
              </a:rPr>
              <a:t>workflow 1 — </a:t>
            </a:r>
            <a:r>
              <a:rPr sz="1100" b="1" dirty="0" err="1">
                <a:solidFill>
                  <a:srgbClr val="FFFFFF"/>
                </a:solidFill>
                <a:latin typeface="Calibri"/>
              </a:rPr>
              <a:t>database_construction</a:t>
            </a:r>
            <a:r>
              <a:rPr sz="1100" b="1" dirty="0">
                <a:solidFill>
                  <a:srgbClr val="FFFFFF"/>
                </a:solidFill>
                <a:latin typeface="Calibri"/>
              </a:rPr>
              <a:t> (</a:t>
            </a:r>
            <a:r>
              <a:rPr sz="1100" b="1" dirty="0" err="1">
                <a:solidFill>
                  <a:srgbClr val="FFFFFF"/>
                </a:solidFill>
                <a:latin typeface="Calibri"/>
              </a:rPr>
              <a:t>constrói</a:t>
            </a:r>
            <a:r>
              <a:rPr sz="11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Calibri"/>
              </a:rPr>
              <a:t>os</a:t>
            </a:r>
            <a:r>
              <a:rPr sz="11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Calibri"/>
              </a:rPr>
              <a:t>modelos</a:t>
            </a:r>
            <a:r>
              <a:rPr sz="1100" b="1" dirty="0">
                <a:solidFill>
                  <a:srgbClr val="FFFFFF"/>
                </a:solidFill>
                <a:latin typeface="Calibri"/>
              </a:rPr>
              <a:t>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86200" y="2286000"/>
            <a:ext cx="228600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950" b="0" dirty="0">
                <a:solidFill>
                  <a:srgbClr val="1A2E35"/>
                </a:solidFill>
                <a:latin typeface="Calibri"/>
              </a:rPr>
              <a:t>CD-HIT</a:t>
            </a:r>
          </a:p>
          <a:p>
            <a:pPr algn="ctr"/>
            <a:r>
              <a:rPr sz="950" b="0" dirty="0" err="1">
                <a:solidFill>
                  <a:srgbClr val="1A2E35"/>
                </a:solidFill>
                <a:latin typeface="Calibri"/>
              </a:rPr>
              <a:t>agrupa</a:t>
            </a:r>
            <a:r>
              <a:rPr sz="950" b="0" dirty="0">
                <a:solidFill>
                  <a:srgbClr val="1A2E35"/>
                </a:solidFill>
                <a:latin typeface="Calibri"/>
              </a:rPr>
              <a:t> </a:t>
            </a:r>
            <a:r>
              <a:rPr sz="950" b="0" dirty="0" err="1">
                <a:solidFill>
                  <a:srgbClr val="1A2E35"/>
                </a:solidFill>
                <a:latin typeface="Calibri"/>
              </a:rPr>
              <a:t>por</a:t>
            </a:r>
            <a:r>
              <a:rPr sz="950" b="0" dirty="0">
                <a:solidFill>
                  <a:srgbClr val="1A2E35"/>
                </a:solidFill>
                <a:latin typeface="Calibri"/>
              </a:rPr>
              <a:t> </a:t>
            </a:r>
            <a:r>
              <a:rPr sz="950" b="0" dirty="0" err="1">
                <a:solidFill>
                  <a:srgbClr val="1A2E35"/>
                </a:solidFill>
                <a:latin typeface="Calibri"/>
              </a:rPr>
              <a:t>similaridade</a:t>
            </a:r>
            <a:endParaRPr sz="950" b="0" dirty="0">
              <a:solidFill>
                <a:srgbClr val="1A2E35"/>
              </a:solidFill>
              <a:latin typeface="Calibri"/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6301336" y="2560320"/>
            <a:ext cx="274320" cy="274320"/>
          </a:xfrm>
          <a:prstGeom prst="rightArrow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65392" y="2286000"/>
            <a:ext cx="210312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950" b="0">
                <a:solidFill>
                  <a:srgbClr val="1A2E35"/>
                </a:solidFill>
                <a:latin typeface="Calibri"/>
              </a:rPr>
              <a:t>T-COFFEE</a:t>
            </a:r>
          </a:p>
          <a:p>
            <a:pPr algn="ctr"/>
            <a:r>
              <a:rPr sz="950" b="0">
                <a:solidFill>
                  <a:srgbClr val="1A2E35"/>
                </a:solidFill>
                <a:latin typeface="Calibri"/>
              </a:rPr>
              <a:t>alinha clusters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801099" y="2569463"/>
            <a:ext cx="274320" cy="274320"/>
          </a:xfrm>
          <a:prstGeom prst="rightArrow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48640" y="3840480"/>
            <a:ext cx="11064240" cy="2743200"/>
          </a:xfrm>
          <a:prstGeom prst="roundRect">
            <a:avLst/>
          </a:prstGeom>
          <a:solidFill>
            <a:srgbClr val="F4F9F9"/>
          </a:solidFill>
          <a:ln w="25400">
            <a:solidFill>
              <a:srgbClr val="0B3C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31520" y="3840480"/>
            <a:ext cx="10698480" cy="347472"/>
          </a:xfrm>
          <a:prstGeom prst="roundRect">
            <a:avLst>
              <a:gd name="adj" fmla="val 50000"/>
            </a:avLst>
          </a:prstGeom>
          <a:solidFill>
            <a:srgbClr val="0B3C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workflow 2 — annotation  (procura as enzimas; NÃO é 'anotação')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2743200" y="4617720"/>
            <a:ext cx="292608" cy="274320"/>
          </a:xfrm>
          <a:prstGeom prst="rightArrow">
            <a:avLst/>
          </a:prstGeom>
          <a:solidFill>
            <a:srgbClr val="0B3C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ight Arrow 20"/>
          <p:cNvSpPr/>
          <p:nvPr/>
        </p:nvSpPr>
        <p:spPr>
          <a:xfrm>
            <a:off x="5079492" y="4590289"/>
            <a:ext cx="320040" cy="274320"/>
          </a:xfrm>
          <a:prstGeom prst="rightArrow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440680" y="4224528"/>
            <a:ext cx="598932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Down Arrow 24"/>
          <p:cNvSpPr/>
          <p:nvPr/>
        </p:nvSpPr>
        <p:spPr>
          <a:xfrm>
            <a:off x="3909060" y="5223509"/>
            <a:ext cx="274320" cy="320040"/>
          </a:xfrm>
          <a:prstGeom prst="downArrow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2674620" y="5646420"/>
            <a:ext cx="274320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C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900" b="0">
                <a:solidFill>
                  <a:srgbClr val="1A2E35"/>
                </a:solidFill>
                <a:latin typeface="Calibri"/>
              </a:rPr>
              <a:t>assembly + tradução</a:t>
            </a:r>
          </a:p>
          <a:p>
            <a:pPr algn="ctr"/>
            <a:r>
              <a:rPr sz="900" b="0">
                <a:solidFill>
                  <a:srgbClr val="1A2E35"/>
                </a:solidFill>
                <a:latin typeface="Calibri"/>
              </a:rPr>
              <a:t>(reads → proteínas</a:t>
            </a:r>
          </a:p>
          <a:p>
            <a:pPr algn="ctr"/>
            <a:r>
              <a:rPr sz="900" b="0">
                <a:solidFill>
                  <a:srgbClr val="1A2E35"/>
                </a:solidFill>
                <a:latin typeface="Calibri"/>
              </a:rPr>
              <a:t>completas = proteoma)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5623560" y="5878853"/>
            <a:ext cx="292608" cy="274320"/>
          </a:xfrm>
          <a:prstGeom prst="rightArrow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035040" y="5669280"/>
            <a:ext cx="5394960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C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428CA45C-1F06-2EEE-12A5-62A90DD2AE97}"/>
              </a:ext>
            </a:extLst>
          </p:cNvPr>
          <p:cNvSpPr txBox="1"/>
          <p:nvPr/>
        </p:nvSpPr>
        <p:spPr>
          <a:xfrm>
            <a:off x="5623560" y="4663440"/>
            <a:ext cx="5532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PT" sz="1800" b="0" dirty="0">
                <a:solidFill>
                  <a:srgbClr val="1A2E35"/>
                </a:solidFill>
                <a:latin typeface="Calibri"/>
              </a:rPr>
              <a:t> </a:t>
            </a:r>
            <a:r>
              <a:rPr lang="pt-PT" sz="950" b="0" dirty="0">
                <a:solidFill>
                  <a:srgbClr val="1A2E35"/>
                </a:solidFill>
                <a:latin typeface="Calibri"/>
              </a:rPr>
              <a:t>KMA mapeia os </a:t>
            </a:r>
            <a:r>
              <a:rPr lang="pt-PT" sz="950" b="0" dirty="0" err="1">
                <a:solidFill>
                  <a:srgbClr val="1A2E35"/>
                </a:solidFill>
                <a:latin typeface="Calibri"/>
              </a:rPr>
              <a:t>reads</a:t>
            </a:r>
            <a:r>
              <a:rPr lang="pt-PT" sz="950" b="0" dirty="0">
                <a:solidFill>
                  <a:srgbClr val="1A2E35"/>
                </a:solidFill>
                <a:latin typeface="Calibri"/>
              </a:rPr>
              <a:t> contra as sequências </a:t>
            </a:r>
            <a:r>
              <a:rPr lang="pt-PT" sz="950" b="0" dirty="0" err="1">
                <a:solidFill>
                  <a:srgbClr val="1A2E35"/>
                </a:solidFill>
                <a:latin typeface="Calibri"/>
              </a:rPr>
              <a:t>nucleotídicas</a:t>
            </a:r>
            <a:r>
              <a:rPr lang="pt-PT" sz="950" dirty="0">
                <a:solidFill>
                  <a:srgbClr val="1A2E35"/>
                </a:solidFill>
                <a:latin typeface="Calibri"/>
              </a:rPr>
              <a:t> obtidas das enzimas</a:t>
            </a:r>
            <a:endParaRPr lang="pt-PT" sz="950" b="0" dirty="0">
              <a:solidFill>
                <a:srgbClr val="1A2E35"/>
              </a:solidFill>
              <a:latin typeface="Calibri"/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4ECADA42-047F-43BF-4EC7-78AC662FB788}"/>
              </a:ext>
            </a:extLst>
          </p:cNvPr>
          <p:cNvSpPr txBox="1"/>
          <p:nvPr/>
        </p:nvSpPr>
        <p:spPr>
          <a:xfrm>
            <a:off x="7212936" y="6116944"/>
            <a:ext cx="2984303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PT" sz="950" b="0" dirty="0">
                <a:solidFill>
                  <a:srgbClr val="1A2E35"/>
                </a:solidFill>
                <a:latin typeface="Calibri"/>
              </a:rPr>
              <a:t> HMMER procura contra os modelos HMM</a:t>
            </a:r>
          </a:p>
        </p:txBody>
      </p:sp>
      <p:sp>
        <p:nvSpPr>
          <p:cNvPr id="38" name="Rounded Rectangle 5">
            <a:extLst>
              <a:ext uri="{FF2B5EF4-FFF2-40B4-BE49-F238E27FC236}">
                <a16:creationId xmlns:a16="http://schemas.microsoft.com/office/drawing/2014/main" id="{02442E40-4353-CFDD-7059-C81B700BEAB7}"/>
              </a:ext>
            </a:extLst>
          </p:cNvPr>
          <p:cNvSpPr/>
          <p:nvPr/>
        </p:nvSpPr>
        <p:spPr>
          <a:xfrm>
            <a:off x="731520" y="4288537"/>
            <a:ext cx="1920240" cy="875210"/>
          </a:xfrm>
          <a:prstGeom prst="roundRect">
            <a:avLst>
              <a:gd name="adj" fmla="val 39751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lang="pt-PT" sz="1050" b="1" dirty="0" err="1">
                <a:solidFill>
                  <a:schemeClr val="bg1"/>
                </a:solidFill>
              </a:rPr>
              <a:t>fetch</a:t>
            </a:r>
            <a:endParaRPr lang="pt-PT" sz="1050" b="1" dirty="0">
              <a:solidFill>
                <a:schemeClr val="bg1"/>
              </a:solidFill>
            </a:endParaRPr>
          </a:p>
          <a:p>
            <a:pPr algn="ctr"/>
            <a:r>
              <a:rPr lang="pt-PT" sz="1050" b="1" dirty="0">
                <a:solidFill>
                  <a:schemeClr val="bg1"/>
                </a:solidFill>
              </a:rPr>
              <a:t>descarrega SRA e converte  para FASTQ</a:t>
            </a:r>
          </a:p>
        </p:txBody>
      </p:sp>
      <p:sp>
        <p:nvSpPr>
          <p:cNvPr id="15" name="Rounded Rectangle 11">
            <a:extLst>
              <a:ext uri="{FF2B5EF4-FFF2-40B4-BE49-F238E27FC236}">
                <a16:creationId xmlns:a16="http://schemas.microsoft.com/office/drawing/2014/main" id="{640F16A3-6025-FC91-45C7-7FE2342FB2A7}"/>
              </a:ext>
            </a:extLst>
          </p:cNvPr>
          <p:cNvSpPr/>
          <p:nvPr/>
        </p:nvSpPr>
        <p:spPr>
          <a:xfrm>
            <a:off x="9189719" y="2282920"/>
            <a:ext cx="210312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lang="pt-PT" sz="950" dirty="0" err="1">
                <a:solidFill>
                  <a:srgbClr val="0B3C49"/>
                </a:solidFill>
              </a:rPr>
              <a:t>hmmbuild</a:t>
            </a:r>
            <a:endParaRPr lang="pt-PT" sz="950" dirty="0">
              <a:solidFill>
                <a:srgbClr val="0B3C49"/>
              </a:solidFill>
            </a:endParaRPr>
          </a:p>
          <a:p>
            <a:pPr algn="ctr"/>
            <a:r>
              <a:rPr lang="pt-PT" sz="950" dirty="0" err="1">
                <a:solidFill>
                  <a:srgbClr val="0B3C49"/>
                </a:solidFill>
              </a:rPr>
              <a:t>Contrói</a:t>
            </a:r>
            <a:r>
              <a:rPr lang="pt-PT" sz="950" dirty="0">
                <a:solidFill>
                  <a:srgbClr val="0B3C49"/>
                </a:solidFill>
              </a:rPr>
              <a:t> um </a:t>
            </a:r>
            <a:r>
              <a:rPr lang="pt-PT" sz="950" dirty="0" err="1">
                <a:solidFill>
                  <a:srgbClr val="0B3C49"/>
                </a:solidFill>
              </a:rPr>
              <a:t>dataset</a:t>
            </a:r>
            <a:r>
              <a:rPr lang="pt-PT" sz="950" dirty="0">
                <a:solidFill>
                  <a:srgbClr val="0B3C49"/>
                </a:solidFill>
              </a:rPr>
              <a:t> com os HMM</a:t>
            </a:r>
          </a:p>
        </p:txBody>
      </p:sp>
      <p:sp>
        <p:nvSpPr>
          <p:cNvPr id="18" name="Rounded Rectangle 9">
            <a:extLst>
              <a:ext uri="{FF2B5EF4-FFF2-40B4-BE49-F238E27FC236}">
                <a16:creationId xmlns:a16="http://schemas.microsoft.com/office/drawing/2014/main" id="{DB052F28-85AD-9C01-090F-DC6C575BE1FD}"/>
              </a:ext>
            </a:extLst>
          </p:cNvPr>
          <p:cNvSpPr/>
          <p:nvPr/>
        </p:nvSpPr>
        <p:spPr>
          <a:xfrm>
            <a:off x="3067532" y="4389119"/>
            <a:ext cx="1920240" cy="717804"/>
          </a:xfrm>
          <a:prstGeom prst="roundRect">
            <a:avLst>
              <a:gd name="adj" fmla="val 22336"/>
            </a:avLst>
          </a:prstGeom>
          <a:solidFill>
            <a:srgbClr val="FFFFFF"/>
          </a:solidFill>
          <a:ln w="19050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lang="pt-PT" sz="900" dirty="0" err="1">
                <a:solidFill>
                  <a:schemeClr val="tx1"/>
                </a:solidFill>
              </a:rPr>
              <a:t>Metagenoma</a:t>
            </a:r>
            <a:endParaRPr lang="pt-PT" sz="900" dirty="0">
              <a:solidFill>
                <a:schemeClr val="tx1"/>
              </a:solidFill>
            </a:endParaRPr>
          </a:p>
          <a:p>
            <a:pPr algn="ctr"/>
            <a:r>
              <a:rPr lang="pt-PT" sz="900" dirty="0">
                <a:solidFill>
                  <a:schemeClr val="tx1"/>
                </a:solidFill>
              </a:rPr>
              <a:t>(</a:t>
            </a:r>
            <a:r>
              <a:rPr lang="pt-PT" sz="900" dirty="0" err="1">
                <a:solidFill>
                  <a:schemeClr val="tx1"/>
                </a:solidFill>
              </a:rPr>
              <a:t>reads</a:t>
            </a:r>
            <a:r>
              <a:rPr lang="pt-PT" sz="9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30" name="Rounded Rectangle 8">
            <a:extLst>
              <a:ext uri="{FF2B5EF4-FFF2-40B4-BE49-F238E27FC236}">
                <a16:creationId xmlns:a16="http://schemas.microsoft.com/office/drawing/2014/main" id="{2AEFE62F-FA79-68D1-F1CE-DA6B950D2E28}"/>
              </a:ext>
            </a:extLst>
          </p:cNvPr>
          <p:cNvSpPr/>
          <p:nvPr/>
        </p:nvSpPr>
        <p:spPr>
          <a:xfrm>
            <a:off x="6035040" y="5659789"/>
            <a:ext cx="5413248" cy="35622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lang="pt-PT" sz="1100" dirty="0">
                <a:solidFill>
                  <a:schemeClr val="bg1"/>
                </a:solidFill>
              </a:rPr>
              <a:t>Proteoma</a:t>
            </a:r>
          </a:p>
        </p:txBody>
      </p:sp>
      <p:sp>
        <p:nvSpPr>
          <p:cNvPr id="31" name="Rounded Rectangle 8">
            <a:extLst>
              <a:ext uri="{FF2B5EF4-FFF2-40B4-BE49-F238E27FC236}">
                <a16:creationId xmlns:a16="http://schemas.microsoft.com/office/drawing/2014/main" id="{08E39A55-27B0-FBE0-AF95-38E51E832FB6}"/>
              </a:ext>
            </a:extLst>
          </p:cNvPr>
          <p:cNvSpPr/>
          <p:nvPr/>
        </p:nvSpPr>
        <p:spPr>
          <a:xfrm>
            <a:off x="5440680" y="4226020"/>
            <a:ext cx="5989320" cy="347472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lang="pt-PT" sz="1100" dirty="0" err="1">
                <a:solidFill>
                  <a:schemeClr val="bg1"/>
                </a:solidFill>
              </a:rPr>
              <a:t>Reads</a:t>
            </a:r>
            <a:endParaRPr lang="pt-PT" sz="1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PT" sz="2600" b="1" noProof="0" dirty="0">
                <a:solidFill>
                  <a:srgbClr val="0B3C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Dados e referências utilizados</a:t>
            </a:r>
            <a:endParaRPr lang="pt-PT" sz="2600" noProof="0" dirty="0"/>
          </a:p>
        </p:txBody>
      </p:sp>
      <p:sp>
        <p:nvSpPr>
          <p:cNvPr id="3" name="Text 1"/>
          <p:cNvSpPr/>
          <p:nvPr/>
        </p:nvSpPr>
        <p:spPr>
          <a:xfrm>
            <a:off x="11155680" y="3657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pt-PT" sz="1400" b="1" noProof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pt-PT" sz="1400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5" name="Text 3"/>
          <p:cNvSpPr/>
          <p:nvPr/>
        </p:nvSpPr>
        <p:spPr>
          <a:xfrm>
            <a:off x="115863" y="2162965"/>
            <a:ext cx="5340883" cy="3067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  <a:buSzPct val="100000"/>
            </a:pPr>
            <a:r>
              <a:rPr lang="pt-PT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    PMC10353409 — </a:t>
            </a:r>
            <a:r>
              <a:rPr lang="pt-PT" sz="16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r>
              <a:rPr lang="pt-PT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PT" sz="16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metagenómico</a:t>
            </a:r>
            <a:endParaRPr lang="pt-PT" sz="1600" dirty="0"/>
          </a:p>
          <a:p>
            <a:pPr lvl="1" indent="-228600">
              <a:spcAft>
                <a:spcPts val="600"/>
              </a:spcAft>
              <a:buSzPct val="100000"/>
              <a:buFontTx/>
              <a:buChar char="▪"/>
            </a:pPr>
            <a:r>
              <a:rPr lang="pt-PT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r>
              <a:rPr lang="pt-PT" sz="1400" dirty="0" err="1"/>
              <a:t>Metagenomic</a:t>
            </a:r>
            <a:r>
              <a:rPr lang="pt-PT" sz="1400" dirty="0"/>
              <a:t> </a:t>
            </a:r>
            <a:r>
              <a:rPr lang="pt-PT" sz="1400" dirty="0" err="1"/>
              <a:t>Sequencing</a:t>
            </a:r>
            <a:r>
              <a:rPr lang="pt-PT" sz="1400" dirty="0"/>
              <a:t> </a:t>
            </a:r>
            <a:r>
              <a:rPr lang="pt-PT" sz="1400" dirty="0" err="1"/>
              <a:t>of</a:t>
            </a:r>
            <a:r>
              <a:rPr lang="pt-PT" sz="1400" dirty="0"/>
              <a:t> </a:t>
            </a:r>
            <a:r>
              <a:rPr lang="pt-PT" sz="1400" dirty="0" err="1"/>
              <a:t>Two</a:t>
            </a:r>
            <a:r>
              <a:rPr lang="pt-PT" sz="1400" dirty="0"/>
              <a:t> </a:t>
            </a:r>
            <a:r>
              <a:rPr lang="pt-PT" sz="1400" dirty="0" err="1"/>
              <a:t>Cultures</a:t>
            </a:r>
            <a:r>
              <a:rPr lang="pt-PT" sz="1400" dirty="0"/>
              <a:t> </a:t>
            </a:r>
            <a:r>
              <a:rPr lang="pt-PT" sz="1400" dirty="0" err="1"/>
              <a:t>Grown</a:t>
            </a:r>
            <a:r>
              <a:rPr lang="pt-PT" sz="1400" dirty="0"/>
              <a:t> </a:t>
            </a:r>
            <a:r>
              <a:rPr lang="pt-PT" sz="1400" dirty="0" err="1"/>
              <a:t>on</a:t>
            </a:r>
            <a:r>
              <a:rPr lang="pt-PT" sz="1400" dirty="0"/>
              <a:t> </a:t>
            </a:r>
            <a:r>
              <a:rPr lang="pt-PT" sz="1400" dirty="0" err="1"/>
              <a:t>Chemically</a:t>
            </a:r>
            <a:r>
              <a:rPr lang="pt-PT" sz="1400" dirty="0"/>
              <a:t> </a:t>
            </a:r>
            <a:r>
              <a:rPr lang="pt-PT" sz="1400" dirty="0" err="1"/>
              <a:t>Deconstructed</a:t>
            </a:r>
            <a:r>
              <a:rPr lang="pt-PT" sz="1400" dirty="0"/>
              <a:t> </a:t>
            </a:r>
            <a:r>
              <a:rPr lang="pt-PT" sz="1400" dirty="0" err="1"/>
              <a:t>Plastic</a:t>
            </a:r>
            <a:r>
              <a:rPr lang="pt-PT" sz="1400" dirty="0"/>
              <a:t> </a:t>
            </a:r>
            <a:r>
              <a:rPr lang="pt-PT" sz="1400" dirty="0" err="1"/>
              <a:t>Products</a:t>
            </a:r>
            <a:r>
              <a:rPr lang="pt-PT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”.</a:t>
            </a:r>
            <a:endParaRPr lang="pt-PT" sz="1600" dirty="0"/>
          </a:p>
          <a:p>
            <a:pPr lvl="1" indent="-228600">
              <a:spcAft>
                <a:spcPts val="600"/>
              </a:spcAft>
              <a:buSzPct val="100000"/>
              <a:buChar char="▪"/>
            </a:pPr>
            <a:r>
              <a:rPr lang="pt-PT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</a:t>
            </a:r>
            <a:r>
              <a:rPr lang="pt-PT" sz="1300" dirty="0" err="1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SRAs</a:t>
            </a:r>
            <a:r>
              <a:rPr lang="pt-PT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PT" sz="1300" dirty="0" err="1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paired-end</a:t>
            </a:r>
            <a:r>
              <a:rPr lang="pt-PT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SRR22262629 e SRR22689345.</a:t>
            </a:r>
            <a:endParaRPr lang="pt-PT" sz="1600" dirty="0"/>
          </a:p>
          <a:p>
            <a:pPr lvl="1" indent="-228600">
              <a:spcAft>
                <a:spcPts val="600"/>
              </a:spcAft>
              <a:buSzPct val="100000"/>
              <a:buChar char="▪"/>
            </a:pPr>
            <a:r>
              <a:rPr lang="pt-PT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 = formato de dados do NCBI, é possível converter para FASTQ, ocupa menos espaço.</a:t>
            </a:r>
            <a:endParaRPr lang="pt-PT" sz="1600" b="1" dirty="0">
              <a:solidFill>
                <a:srgbClr val="1A2E3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lvl="1">
              <a:spcAft>
                <a:spcPts val="600"/>
              </a:spcAft>
              <a:buSzPct val="100000"/>
            </a:pPr>
            <a:r>
              <a:rPr lang="pt-PT" sz="1600" b="1" noProof="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PAZy</a:t>
            </a:r>
            <a:r>
              <a:rPr lang="pt-PT" sz="16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— Base de referência</a:t>
            </a:r>
            <a:endParaRPr lang="pt-PT" sz="1600" noProof="0" dirty="0"/>
          </a:p>
          <a:p>
            <a:pPr marL="457200" lvl="1" indent="-228600">
              <a:spcAft>
                <a:spcPts val="600"/>
              </a:spcAft>
              <a:buSzPct val="100000"/>
              <a:buChar char="▪"/>
            </a:pPr>
            <a:r>
              <a:rPr lang="pt-PT" sz="1300" noProof="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das maiores bases com curadoria experimental de enzimas plástico.</a:t>
            </a:r>
            <a:endParaRPr lang="pt-PT" sz="1600" noProof="0" dirty="0"/>
          </a:p>
          <a:p>
            <a:pPr marL="457200" lvl="1" indent="-228600">
              <a:spcAft>
                <a:spcPts val="600"/>
              </a:spcAft>
              <a:buSzPct val="100000"/>
              <a:buChar char="▪"/>
            </a:pPr>
            <a:r>
              <a:rPr lang="pt-PT" sz="1300" noProof="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 entradas para PET, 312 com sequência proteica (8 sem sequência depositada).</a:t>
            </a:r>
            <a:endParaRPr lang="pt-PT" sz="1600" noProof="0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96313CD1-A059-92D8-C235-E7FA4607C1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8566" b="8483"/>
          <a:stretch>
            <a:fillRect/>
          </a:stretch>
        </p:blipFill>
        <p:spPr>
          <a:xfrm>
            <a:off x="5968180" y="1848467"/>
            <a:ext cx="6107957" cy="369665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PT" sz="2600" b="1" noProof="0" dirty="0">
                <a:solidFill>
                  <a:srgbClr val="0B3C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Análise dos clusters: tipos de enzimas</a:t>
            </a:r>
            <a:endParaRPr lang="pt-PT" sz="2600" noProof="0" dirty="0"/>
          </a:p>
        </p:txBody>
      </p:sp>
      <p:sp>
        <p:nvSpPr>
          <p:cNvPr id="3" name="Text 1"/>
          <p:cNvSpPr/>
          <p:nvPr/>
        </p:nvSpPr>
        <p:spPr>
          <a:xfrm>
            <a:off x="11155680" y="3657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pt-PT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pt-PT" sz="1400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pt-PT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0974809"/>
              </p:ext>
            </p:extLst>
          </p:nvPr>
        </p:nvGraphicFramePr>
        <p:xfrm>
          <a:off x="640080" y="1920240"/>
          <a:ext cx="10972800" cy="3456432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PT" sz="11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Enzima</a:t>
                      </a:r>
                      <a:endParaRPr lang="pt-PT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PT" sz="11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</a:t>
                      </a:r>
                      <a:endParaRPr lang="pt-PT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PT" sz="11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Reação catalisada</a:t>
                      </a:r>
                      <a:endParaRPr lang="pt-PT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PT" sz="11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Origem típica</a:t>
                      </a:r>
                      <a:endParaRPr lang="pt-PT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950" b="1" noProof="0" dirty="0" err="1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PETase</a:t>
                      </a:r>
                      <a:endParaRPr lang="pt-PT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950" noProof="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3.1.1.101</a:t>
                      </a:r>
                      <a:endParaRPr lang="pt-PT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950" noProof="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 → MHET (hidrólise das ligações éster)</a:t>
                      </a:r>
                      <a:endParaRPr lang="pt-PT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950" noProof="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P. </a:t>
                      </a:r>
                      <a:r>
                        <a:rPr lang="pt-PT" sz="950" noProof="0" dirty="0" err="1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sakaiensis</a:t>
                      </a:r>
                      <a:r>
                        <a:rPr lang="pt-PT" sz="950" noProof="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; </a:t>
                      </a:r>
                      <a:r>
                        <a:rPr lang="pt-PT" sz="950" noProof="0" dirty="0" err="1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Actinomycetota</a:t>
                      </a:r>
                      <a:r>
                        <a:rPr lang="pt-PT" sz="950" noProof="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; </a:t>
                      </a:r>
                      <a:r>
                        <a:rPr lang="pt-PT" sz="950" noProof="0" dirty="0" err="1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Pseudomonadota</a:t>
                      </a:r>
                      <a:endParaRPr lang="pt-PT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950" b="1" noProof="0" dirty="0" err="1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MHETase</a:t>
                      </a:r>
                      <a:endParaRPr lang="pt-PT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950" noProof="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3.1.1.102</a:t>
                      </a:r>
                      <a:endParaRPr lang="pt-PT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950" noProof="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MHET → TPA + etilenoglicol</a:t>
                      </a:r>
                      <a:endParaRPr lang="pt-PT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950" noProof="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Bactérias com </a:t>
                      </a:r>
                      <a:r>
                        <a:rPr lang="pt-PT" sz="950" noProof="0" dirty="0" err="1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PETase</a:t>
                      </a:r>
                      <a:r>
                        <a:rPr lang="pt-PT" sz="950" noProof="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no mesmo </a:t>
                      </a:r>
                      <a:r>
                        <a:rPr lang="pt-PT" sz="950" noProof="0" dirty="0" err="1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operão</a:t>
                      </a:r>
                      <a:endParaRPr lang="pt-PT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950" b="1" noProof="0" dirty="0" err="1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Cutinase</a:t>
                      </a:r>
                      <a:endParaRPr lang="pt-PT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950" noProof="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3.1.1.74</a:t>
                      </a:r>
                      <a:endParaRPr lang="pt-PT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950" noProof="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Cutina/PET → ácidos gordos ou MHET + TPA</a:t>
                      </a:r>
                      <a:endParaRPr lang="pt-PT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950" noProof="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Fungos (</a:t>
                      </a:r>
                      <a:r>
                        <a:rPr lang="pt-PT" sz="950" noProof="0" dirty="0" err="1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Fusarium</a:t>
                      </a:r>
                      <a:r>
                        <a:rPr lang="pt-PT" sz="950" noProof="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pt-PT" sz="950" noProof="0" dirty="0" err="1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Humicola</a:t>
                      </a:r>
                      <a:r>
                        <a:rPr lang="pt-PT" sz="950" noProof="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); </a:t>
                      </a:r>
                      <a:r>
                        <a:rPr lang="pt-PT" sz="950" noProof="0" dirty="0" err="1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Thermobifida</a:t>
                      </a:r>
                      <a:endParaRPr lang="pt-PT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950" b="1" noProof="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LCC-</a:t>
                      </a:r>
                      <a:r>
                        <a:rPr lang="pt-PT" sz="950" b="1" noProof="0" dirty="0" err="1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</a:t>
                      </a:r>
                      <a:r>
                        <a:rPr lang="pt-PT" sz="950" b="1" noProof="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pt-PT" sz="950" b="1" noProof="0" dirty="0" err="1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cutinase</a:t>
                      </a:r>
                      <a:endParaRPr lang="pt-PT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950" noProof="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3.1.1.74</a:t>
                      </a:r>
                      <a:endParaRPr lang="pt-PT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950" noProof="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 cristalino → MHET + TPA + EG</a:t>
                      </a:r>
                      <a:endParaRPr lang="pt-PT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950" noProof="0" dirty="0" err="1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Metagenoma</a:t>
                      </a:r>
                      <a:r>
                        <a:rPr lang="pt-PT" sz="950" noProof="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de composto foliar</a:t>
                      </a:r>
                      <a:endParaRPr lang="pt-PT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950" b="1" noProof="0" dirty="0" err="1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Lipase</a:t>
                      </a:r>
                      <a:endParaRPr lang="pt-PT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950" noProof="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3.1.1.3</a:t>
                      </a:r>
                      <a:endParaRPr lang="pt-PT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950" noProof="0" dirty="0" err="1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Triacilglicerol</a:t>
                      </a:r>
                      <a:r>
                        <a:rPr lang="pt-PT" sz="950" noProof="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→ AG; PET (marginal)</a:t>
                      </a:r>
                      <a:endParaRPr lang="pt-PT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950" noProof="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Bactérias e fungos diversos</a:t>
                      </a:r>
                      <a:endParaRPr lang="pt-PT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950" b="1" noProof="0" dirty="0" err="1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Carboxylesterase</a:t>
                      </a:r>
                      <a:endParaRPr lang="pt-PT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950" noProof="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3.1.1.1</a:t>
                      </a:r>
                      <a:endParaRPr lang="pt-PT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950" noProof="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Éster carboxílico → álcool + ácido</a:t>
                      </a:r>
                      <a:endParaRPr lang="pt-PT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950" noProof="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Ubíqua (B. </a:t>
                      </a:r>
                      <a:r>
                        <a:rPr lang="pt-PT" sz="950" noProof="0" dirty="0" err="1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subtilis</a:t>
                      </a:r>
                      <a:r>
                        <a:rPr lang="pt-PT" sz="950" noProof="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pt-PT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950" b="1" noProof="0" dirty="0" err="1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TfH</a:t>
                      </a:r>
                      <a:r>
                        <a:rPr lang="pt-PT" sz="950" b="1" noProof="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/ BTA </a:t>
                      </a:r>
                      <a:r>
                        <a:rPr lang="pt-PT" sz="950" b="1" noProof="0" dirty="0" err="1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hydrolase</a:t>
                      </a:r>
                      <a:endParaRPr lang="pt-PT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950" noProof="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3.1.1.74</a:t>
                      </a:r>
                      <a:endParaRPr lang="pt-PT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950" noProof="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 / PBAT → MHET + TPA</a:t>
                      </a:r>
                      <a:endParaRPr lang="pt-PT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950" noProof="0" dirty="0" err="1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Thermobifida</a:t>
                      </a:r>
                      <a:r>
                        <a:rPr lang="pt-PT" sz="950" noProof="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spp.; S. </a:t>
                      </a:r>
                      <a:r>
                        <a:rPr lang="pt-PT" sz="950" noProof="0" dirty="0" err="1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viridis</a:t>
                      </a:r>
                      <a:endParaRPr lang="pt-PT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950" b="1" noProof="0" dirty="0" err="1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BHETase</a:t>
                      </a:r>
                      <a:endParaRPr lang="pt-PT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950" noProof="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3.1.1</a:t>
                      </a:r>
                      <a:endParaRPr lang="pt-PT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950" noProof="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BHET → 2× MHET (intermédio)</a:t>
                      </a:r>
                      <a:endParaRPr lang="pt-PT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950" noProof="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</a:t>
                      </a:r>
                      <a:r>
                        <a:rPr lang="pt-PT" sz="950" noProof="0" dirty="0" err="1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subtilis</a:t>
                      </a:r>
                      <a:r>
                        <a:rPr lang="pt-PT" sz="950" noProof="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e </a:t>
                      </a:r>
                      <a:r>
                        <a:rPr lang="pt-PT" sz="950" noProof="0" dirty="0" err="1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esterases</a:t>
                      </a:r>
                      <a:r>
                        <a:rPr lang="pt-PT" sz="950" noProof="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promíscuas</a:t>
                      </a:r>
                      <a:endParaRPr lang="pt-PT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CaixaDeTexto 5">
            <a:extLst>
              <a:ext uri="{FF2B5EF4-FFF2-40B4-BE49-F238E27FC236}">
                <a16:creationId xmlns:a16="http://schemas.microsoft.com/office/drawing/2014/main" id="{5579930B-379E-20C6-AC69-317946BA2DB2}"/>
              </a:ext>
            </a:extLst>
          </p:cNvPr>
          <p:cNvSpPr txBox="1"/>
          <p:nvPr/>
        </p:nvSpPr>
        <p:spPr>
          <a:xfrm>
            <a:off x="867747" y="5775649"/>
            <a:ext cx="95452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dirty="0"/>
              <a:t>Fonte: BRENDA (EC e reações) e </a:t>
            </a:r>
            <a:r>
              <a:rPr lang="pt-PT" sz="1400" dirty="0" err="1"/>
              <a:t>PAZy</a:t>
            </a:r>
            <a:r>
              <a:rPr lang="pt-PT" sz="1400" dirty="0"/>
              <a:t> (Origem)</a:t>
            </a:r>
            <a:endParaRPr lang="pt-PT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3C49"/>
                </a:solidFill>
                <a:latin typeface="Trebuchet MS"/>
              </a:rPr>
              <a:t>As enzimas no nosso dataset (PAZy)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36576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028090"/>
                </a:solidFill>
              </a:rPr>
              <a:t>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88720"/>
            <a:ext cx="10515600" cy="0"/>
          </a:xfrm>
          <a:prstGeom prst="line">
            <a:avLst/>
          </a:prstGeom>
          <a:ln w="25400">
            <a:solidFill>
              <a:srgbClr val="00A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39" y="1232245"/>
            <a:ext cx="9627747" cy="897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buChar char="•"/>
            </a:pPr>
            <a:r>
              <a:rPr lang="pt-PT" sz="1300" b="0" dirty="0">
                <a:solidFill>
                  <a:srgbClr val="1A2E35"/>
                </a:solidFill>
                <a:latin typeface="Calibri"/>
              </a:rPr>
              <a:t>Analisei as 320 enzimas obtidas do </a:t>
            </a:r>
            <a:r>
              <a:rPr lang="pt-PT" sz="1300" b="0" dirty="0" err="1">
                <a:solidFill>
                  <a:srgbClr val="1A2E35"/>
                </a:solidFill>
                <a:latin typeface="Calibri"/>
              </a:rPr>
              <a:t>PAZy</a:t>
            </a:r>
            <a:r>
              <a:rPr sz="1300" b="0" dirty="0">
                <a:solidFill>
                  <a:srgbClr val="1A2E35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  <a:buChar char="•"/>
            </a:pPr>
            <a:r>
              <a:rPr sz="1300" b="0" dirty="0" err="1">
                <a:solidFill>
                  <a:srgbClr val="1A2E35"/>
                </a:solidFill>
                <a:latin typeface="Calibri"/>
              </a:rPr>
              <a:t>Apesar</a:t>
            </a:r>
            <a:r>
              <a:rPr sz="1300" b="0" dirty="0">
                <a:solidFill>
                  <a:srgbClr val="1A2E35"/>
                </a:solidFill>
                <a:latin typeface="Calibri"/>
              </a:rPr>
              <a:t> de </a:t>
            </a:r>
            <a:r>
              <a:rPr sz="1300" b="0" dirty="0" err="1">
                <a:solidFill>
                  <a:srgbClr val="1A2E35"/>
                </a:solidFill>
                <a:latin typeface="Calibri"/>
              </a:rPr>
              <a:t>todas</a:t>
            </a:r>
            <a:r>
              <a:rPr sz="1300" b="0" dirty="0">
                <a:solidFill>
                  <a:srgbClr val="1A2E3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1A2E35"/>
                </a:solidFill>
                <a:latin typeface="Calibri"/>
              </a:rPr>
              <a:t>degradarem</a:t>
            </a:r>
            <a:r>
              <a:rPr sz="1300" b="0" dirty="0">
                <a:solidFill>
                  <a:srgbClr val="1A2E35"/>
                </a:solidFill>
                <a:latin typeface="Calibri"/>
              </a:rPr>
              <a:t> PET, </a:t>
            </a:r>
            <a:r>
              <a:rPr sz="1300" b="0" dirty="0" err="1">
                <a:solidFill>
                  <a:srgbClr val="1A2E35"/>
                </a:solidFill>
                <a:latin typeface="Calibri"/>
              </a:rPr>
              <a:t>pertencem</a:t>
            </a:r>
            <a:r>
              <a:rPr sz="1300" b="0" dirty="0">
                <a:solidFill>
                  <a:srgbClr val="1A2E35"/>
                </a:solidFill>
                <a:latin typeface="Calibri"/>
              </a:rPr>
              <a:t> a </a:t>
            </a:r>
            <a:r>
              <a:rPr lang="pt-PT" sz="1300" b="0" dirty="0">
                <a:solidFill>
                  <a:srgbClr val="1A2E35"/>
                </a:solidFill>
                <a:latin typeface="Calibri"/>
              </a:rPr>
              <a:t>classes</a:t>
            </a:r>
            <a:r>
              <a:rPr sz="1300" b="0" dirty="0">
                <a:solidFill>
                  <a:srgbClr val="1A2E3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1A2E35"/>
                </a:solidFill>
                <a:latin typeface="Calibri"/>
              </a:rPr>
              <a:t>diferentes</a:t>
            </a:r>
            <a:r>
              <a:rPr sz="1300" b="0" dirty="0">
                <a:solidFill>
                  <a:srgbClr val="1A2E35"/>
                </a:solidFill>
                <a:latin typeface="Calibri"/>
              </a:rPr>
              <a:t>.</a:t>
            </a:r>
            <a:endParaRPr lang="pt-PT" sz="1300" b="0" dirty="0">
              <a:solidFill>
                <a:srgbClr val="1A2E35"/>
              </a:solidFill>
              <a:latin typeface="Calibri"/>
            </a:endParaRPr>
          </a:p>
          <a:p>
            <a:pPr>
              <a:spcAft>
                <a:spcPts val="800"/>
              </a:spcAft>
              <a:buChar char="•"/>
            </a:pPr>
            <a:r>
              <a:rPr lang="pt-PT" sz="1300" dirty="0">
                <a:solidFill>
                  <a:srgbClr val="1A2E35"/>
                </a:solidFill>
                <a:latin typeface="Calibri"/>
              </a:rPr>
              <a:t>Podemos ver que a distribuição a nível de Filo demonstra que </a:t>
            </a:r>
            <a:r>
              <a:rPr lang="pt-PT" sz="1300" dirty="0" err="1">
                <a:solidFill>
                  <a:srgbClr val="1A2E35"/>
                </a:solidFill>
                <a:latin typeface="Calibri"/>
              </a:rPr>
              <a:t>Actinomycetota</a:t>
            </a:r>
            <a:r>
              <a:rPr lang="pt-PT" sz="1300" dirty="0">
                <a:solidFill>
                  <a:srgbClr val="1A2E35"/>
                </a:solidFill>
                <a:latin typeface="Calibri"/>
              </a:rPr>
              <a:t> é muito comum neste </a:t>
            </a:r>
            <a:r>
              <a:rPr lang="pt-PT" sz="1300" dirty="0" err="1">
                <a:solidFill>
                  <a:srgbClr val="1A2E35"/>
                </a:solidFill>
                <a:latin typeface="Calibri"/>
              </a:rPr>
              <a:t>dataset</a:t>
            </a:r>
            <a:r>
              <a:rPr lang="pt-PT" sz="1300" dirty="0">
                <a:solidFill>
                  <a:srgbClr val="1A2E35"/>
                </a:solidFill>
                <a:latin typeface="Calibri"/>
              </a:rPr>
              <a:t>.</a:t>
            </a:r>
            <a:endParaRPr sz="1300" b="0" dirty="0">
              <a:solidFill>
                <a:srgbClr val="1A2E35"/>
              </a:solidFill>
              <a:latin typeface="Calibri"/>
            </a:endParaRPr>
          </a:p>
        </p:txBody>
      </p:sp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3502485"/>
              </p:ext>
            </p:extLst>
          </p:nvPr>
        </p:nvGraphicFramePr>
        <p:xfrm>
          <a:off x="5806440" y="2284262"/>
          <a:ext cx="566928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0">
            <a:extLst>
              <a:ext uri="{FF2B5EF4-FFF2-40B4-BE49-F238E27FC236}">
                <a16:creationId xmlns:a16="http://schemas.microsoft.com/office/drawing/2014/main" id="{EF476EDE-D47B-89A9-D689-08CF05EAAC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7596611"/>
              </p:ext>
            </p:extLst>
          </p:nvPr>
        </p:nvGraphicFramePr>
        <p:xfrm>
          <a:off x="487680" y="2375702"/>
          <a:ext cx="45720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3C49"/>
                </a:solidFill>
                <a:latin typeface="Trebuchet MS"/>
              </a:rPr>
              <a:t>Construção da base HMM: os 146 clusters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36576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028090"/>
                </a:solidFill>
              </a:rPr>
              <a:t>9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88720"/>
            <a:ext cx="10515600" cy="0"/>
          </a:xfrm>
          <a:prstGeom prst="line">
            <a:avLst/>
          </a:prstGeom>
          <a:ln w="25400">
            <a:solidFill>
              <a:srgbClr val="00A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2507010"/>
            <a:ext cx="59436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buChar char="•"/>
            </a:pPr>
            <a:r>
              <a:rPr sz="1350" b="0" dirty="0">
                <a:solidFill>
                  <a:srgbClr val="1A2E35"/>
                </a:solidFill>
                <a:latin typeface="Calibri"/>
              </a:rPr>
              <a:t>As 312 </a:t>
            </a:r>
            <a:r>
              <a:rPr sz="1350" b="0" dirty="0" err="1">
                <a:solidFill>
                  <a:srgbClr val="1A2E35"/>
                </a:solidFill>
                <a:latin typeface="Calibri"/>
              </a:rPr>
              <a:t>sequências</a:t>
            </a:r>
            <a:r>
              <a:rPr sz="1350" b="0" dirty="0">
                <a:solidFill>
                  <a:srgbClr val="1A2E35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1A2E35"/>
                </a:solidFill>
                <a:latin typeface="Calibri"/>
              </a:rPr>
              <a:t>proteicas</a:t>
            </a:r>
            <a:r>
              <a:rPr sz="1350" b="0" dirty="0">
                <a:solidFill>
                  <a:srgbClr val="1A2E35"/>
                </a:solidFill>
                <a:latin typeface="Calibri"/>
              </a:rPr>
              <a:t> do </a:t>
            </a:r>
            <a:r>
              <a:rPr sz="1350" b="0" dirty="0" err="1">
                <a:solidFill>
                  <a:srgbClr val="1A2E35"/>
                </a:solidFill>
                <a:latin typeface="Calibri"/>
              </a:rPr>
              <a:t>PAZy</a:t>
            </a:r>
            <a:r>
              <a:rPr sz="1350" b="0" dirty="0">
                <a:solidFill>
                  <a:srgbClr val="1A2E35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1A2E35"/>
                </a:solidFill>
                <a:latin typeface="Calibri"/>
              </a:rPr>
              <a:t>entram</a:t>
            </a:r>
            <a:r>
              <a:rPr sz="1350" b="0" dirty="0">
                <a:solidFill>
                  <a:srgbClr val="1A2E35"/>
                </a:solidFill>
                <a:latin typeface="Calibri"/>
              </a:rPr>
              <a:t> no workflow </a:t>
            </a:r>
            <a:r>
              <a:rPr sz="1350" b="0" dirty="0" err="1">
                <a:solidFill>
                  <a:srgbClr val="1A2E35"/>
                </a:solidFill>
                <a:latin typeface="Calibri"/>
              </a:rPr>
              <a:t>database_construction</a:t>
            </a:r>
            <a:r>
              <a:rPr sz="1350" b="0" dirty="0">
                <a:solidFill>
                  <a:srgbClr val="1A2E35"/>
                </a:solidFill>
                <a:latin typeface="Calibri"/>
              </a:rPr>
              <a:t>.</a:t>
            </a:r>
          </a:p>
          <a:p>
            <a:pPr>
              <a:spcAft>
                <a:spcPts val="900"/>
              </a:spcAft>
              <a:buChar char="•"/>
            </a:pPr>
            <a:r>
              <a:rPr sz="1350" b="0" dirty="0">
                <a:solidFill>
                  <a:srgbClr val="1A2E35"/>
                </a:solidFill>
                <a:latin typeface="Calibri"/>
              </a:rPr>
              <a:t>CD-HIT </a:t>
            </a:r>
            <a:r>
              <a:rPr sz="1350" b="0" dirty="0" err="1">
                <a:solidFill>
                  <a:srgbClr val="1A2E35"/>
                </a:solidFill>
                <a:latin typeface="Calibri"/>
              </a:rPr>
              <a:t>agrupa</a:t>
            </a:r>
            <a:r>
              <a:rPr sz="1350" b="0" dirty="0">
                <a:solidFill>
                  <a:srgbClr val="1A2E35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1A2E35"/>
                </a:solidFill>
                <a:latin typeface="Calibri"/>
              </a:rPr>
              <a:t>por</a:t>
            </a:r>
            <a:r>
              <a:rPr sz="1350" b="0" dirty="0">
                <a:solidFill>
                  <a:srgbClr val="1A2E35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1A2E35"/>
                </a:solidFill>
                <a:latin typeface="Calibri"/>
              </a:rPr>
              <a:t>similaridade</a:t>
            </a:r>
            <a:r>
              <a:rPr sz="1350" b="0" dirty="0">
                <a:solidFill>
                  <a:srgbClr val="1A2E35"/>
                </a:solidFill>
                <a:latin typeface="Calibri"/>
              </a:rPr>
              <a:t> → T-COFFEE </a:t>
            </a:r>
            <a:r>
              <a:rPr sz="1350" b="0" dirty="0" err="1">
                <a:solidFill>
                  <a:srgbClr val="1A2E35"/>
                </a:solidFill>
                <a:latin typeface="Calibri"/>
              </a:rPr>
              <a:t>alinha</a:t>
            </a:r>
            <a:r>
              <a:rPr sz="1350" b="0" dirty="0">
                <a:solidFill>
                  <a:srgbClr val="1A2E35"/>
                </a:solidFill>
                <a:latin typeface="Calibri"/>
              </a:rPr>
              <a:t> → </a:t>
            </a:r>
            <a:r>
              <a:rPr sz="1350" b="0" dirty="0" err="1">
                <a:solidFill>
                  <a:srgbClr val="1A2E35"/>
                </a:solidFill>
                <a:latin typeface="Calibri"/>
              </a:rPr>
              <a:t>hmmbuild</a:t>
            </a:r>
            <a:r>
              <a:rPr sz="1350" b="0" dirty="0">
                <a:solidFill>
                  <a:srgbClr val="1A2E35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1A2E35"/>
                </a:solidFill>
                <a:latin typeface="Calibri"/>
              </a:rPr>
              <a:t>cria</a:t>
            </a:r>
            <a:r>
              <a:rPr sz="1350" b="0" dirty="0">
                <a:solidFill>
                  <a:srgbClr val="1A2E35"/>
                </a:solidFill>
                <a:latin typeface="Calibri"/>
              </a:rPr>
              <a:t> 1 </a:t>
            </a:r>
            <a:r>
              <a:rPr sz="1350" b="0" dirty="0" err="1">
                <a:solidFill>
                  <a:srgbClr val="1A2E35"/>
                </a:solidFill>
                <a:latin typeface="Calibri"/>
              </a:rPr>
              <a:t>perfil</a:t>
            </a:r>
            <a:r>
              <a:rPr sz="1350" b="0" dirty="0">
                <a:solidFill>
                  <a:srgbClr val="1A2E35"/>
                </a:solidFill>
                <a:latin typeface="Calibri"/>
              </a:rPr>
              <a:t> HMM </a:t>
            </a:r>
            <a:r>
              <a:rPr sz="1350" b="0" dirty="0" err="1">
                <a:solidFill>
                  <a:srgbClr val="1A2E35"/>
                </a:solidFill>
                <a:latin typeface="Calibri"/>
              </a:rPr>
              <a:t>por</a:t>
            </a:r>
            <a:r>
              <a:rPr sz="1350" b="0" dirty="0">
                <a:solidFill>
                  <a:srgbClr val="1A2E35"/>
                </a:solidFill>
                <a:latin typeface="Calibri"/>
              </a:rPr>
              <a:t> cluster.</a:t>
            </a:r>
          </a:p>
          <a:p>
            <a:pPr>
              <a:spcAft>
                <a:spcPts val="900"/>
              </a:spcAft>
              <a:buChar char="•"/>
            </a:pPr>
            <a:r>
              <a:rPr sz="1350" dirty="0" err="1">
                <a:latin typeface="Calibri"/>
              </a:rPr>
              <a:t>Resultado</a:t>
            </a:r>
            <a:r>
              <a:rPr sz="1350" dirty="0">
                <a:latin typeface="Calibri"/>
              </a:rPr>
              <a:t>: 146 clusters</a:t>
            </a:r>
            <a:r>
              <a:rPr lang="pt-PT" sz="1350" dirty="0">
                <a:latin typeface="Calibri"/>
              </a:rPr>
              <a:t> que são usados</a:t>
            </a:r>
            <a:r>
              <a:rPr sz="1350" dirty="0">
                <a:latin typeface="Calibri"/>
              </a:rPr>
              <a:t> para </a:t>
            </a:r>
            <a:r>
              <a:rPr sz="1350" dirty="0" err="1">
                <a:latin typeface="Calibri"/>
              </a:rPr>
              <a:t>procurar</a:t>
            </a:r>
            <a:r>
              <a:rPr sz="1350" dirty="0">
                <a:latin typeface="Calibri"/>
              </a:rPr>
              <a:t> </a:t>
            </a:r>
            <a:r>
              <a:rPr sz="1350" dirty="0" err="1">
                <a:latin typeface="Calibri"/>
              </a:rPr>
              <a:t>homólogos</a:t>
            </a:r>
            <a:r>
              <a:rPr sz="1350" dirty="0">
                <a:latin typeface="Calibri"/>
              </a:rPr>
              <a:t> </a:t>
            </a:r>
            <a:r>
              <a:rPr sz="1350" dirty="0" err="1">
                <a:latin typeface="Calibri"/>
              </a:rPr>
              <a:t>nos</a:t>
            </a:r>
            <a:r>
              <a:rPr sz="1350" dirty="0">
                <a:latin typeface="Calibri"/>
              </a:rPr>
              <a:t> </a:t>
            </a:r>
            <a:r>
              <a:rPr sz="1350" dirty="0" err="1">
                <a:latin typeface="Calibri"/>
              </a:rPr>
              <a:t>metagenomas</a:t>
            </a:r>
            <a:r>
              <a:rPr sz="1350" dirty="0"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46304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B3C49"/>
                </a:solidFill>
                <a:latin typeface="Calibri"/>
              </a:rPr>
              <a:t>Top 5 clusters por tamanho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0" y="1920240"/>
          <a:ext cx="48463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Cluster</a:t>
                      </a:r>
                    </a:p>
                  </a:txBody>
                  <a:tcPr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Membros representativos</a:t>
                      </a:r>
                    </a:p>
                  </a:txBody>
                  <a:tcPr>
                    <a:solidFill>
                      <a:srgbClr val="0B3C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2809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A2E35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2E35"/>
                          </a:solidFill>
                          <a:latin typeface="Calibri"/>
                        </a:rPr>
                        <a:t>1628, 1611, 1625… (Actinomycetota PETases)</a:t>
                      </a:r>
                    </a:p>
                  </a:txBody>
                  <a:tcPr>
                    <a:solidFill>
                      <a:srgbClr val="E6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28090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A2E35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2E35"/>
                          </a:solidFill>
                          <a:latin typeface="Calibri"/>
                        </a:rPr>
                        <a:t>BTA-1, Tfu_0883… (Thermobifida cutinases)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28090"/>
                          </a:solidFill>
                          <a:latin typeface="Calibri"/>
                        </a:rPr>
                        <a:t>92</a:t>
                      </a:r>
                    </a:p>
                  </a:txBody>
                  <a:tcPr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A2E35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2E35"/>
                          </a:solidFill>
                          <a:latin typeface="Calibri"/>
                        </a:rPr>
                        <a:t>1507, 1522, ESM082… (Actinomycetota PETases)</a:t>
                      </a:r>
                    </a:p>
                  </a:txBody>
                  <a:tcPr>
                    <a:solidFill>
                      <a:srgbClr val="E6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28090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A2E35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2E35"/>
                          </a:solidFill>
                          <a:latin typeface="Calibri"/>
                        </a:rPr>
                        <a:t>DP043, ESM060… (Actinomycetota PETases)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28090"/>
                          </a:solidFill>
                          <a:latin typeface="Calibri"/>
                        </a:rPr>
                        <a:t>68</a:t>
                      </a:r>
                    </a:p>
                  </a:txBody>
                  <a:tcPr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A2E35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2E35"/>
                          </a:solidFill>
                          <a:latin typeface="Calibri"/>
                        </a:rPr>
                        <a:t>PpPETase, jmPE13… (Pseudomonadota PETases)</a:t>
                      </a:r>
                    </a:p>
                  </a:txBody>
                  <a:tcPr>
                    <a:solidFill>
                      <a:srgbClr val="E6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PT" sz="2600" b="1" noProof="0" dirty="0">
                <a:solidFill>
                  <a:srgbClr val="0B3C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Resultados: teste da </a:t>
            </a:r>
            <a:r>
              <a:rPr lang="pt-PT" sz="2600" b="1" noProof="0" dirty="0" err="1">
                <a:solidFill>
                  <a:srgbClr val="0B3C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annotation</a:t>
            </a:r>
            <a:endParaRPr lang="pt-PT" sz="2600" noProof="0" dirty="0"/>
          </a:p>
        </p:txBody>
      </p:sp>
      <p:sp>
        <p:nvSpPr>
          <p:cNvPr id="3" name="Text 1"/>
          <p:cNvSpPr/>
          <p:nvPr/>
        </p:nvSpPr>
        <p:spPr>
          <a:xfrm>
            <a:off x="11155680" y="3657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pt-PT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pt-PT" sz="1400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5" name="Text 3"/>
          <p:cNvSpPr/>
          <p:nvPr/>
        </p:nvSpPr>
        <p:spPr>
          <a:xfrm>
            <a:off x="703513" y="1991052"/>
            <a:ext cx="6400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pt-PT" sz="1400" noProof="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testar a </a:t>
            </a:r>
            <a:r>
              <a:rPr lang="pt-PT" sz="1400" noProof="0" dirty="0" err="1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</a:t>
            </a:r>
            <a:r>
              <a:rPr lang="pt-PT" sz="1400" noProof="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escolhi </a:t>
            </a:r>
            <a:r>
              <a:rPr lang="pt-PT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r>
              <a:rPr lang="pt-PT" sz="1400" noProof="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das 312 enzimas (aleatório) e obtive as sequências </a:t>
            </a:r>
            <a:r>
              <a:rPr lang="pt-PT" sz="1400" noProof="0" dirty="0" err="1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nucleotídicas</a:t>
            </a:r>
            <a:r>
              <a:rPr lang="pt-PT" sz="1400" noProof="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através da </a:t>
            </a:r>
            <a:r>
              <a:rPr lang="pt-PT" sz="1400" noProof="0" dirty="0" err="1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UniProt</a:t>
            </a:r>
            <a:r>
              <a:rPr lang="pt-PT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</a:t>
            </a:r>
            <a:r>
              <a:rPr lang="pt-PT" sz="1400" noProof="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FASTA de referência.</a:t>
            </a:r>
            <a:endParaRPr lang="pt-PT" sz="1400" noProof="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pt-PT" sz="1400" noProof="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 a </a:t>
            </a:r>
            <a:r>
              <a:rPr lang="pt-PT" sz="1400" noProof="0" dirty="0" err="1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</a:t>
            </a:r>
            <a:r>
              <a:rPr lang="pt-PT" sz="1400" noProof="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dos SRA contra este FASTA (</a:t>
            </a:r>
            <a:r>
              <a:rPr lang="pt-PT" sz="1400" noProof="0" dirty="0" err="1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r>
              <a:rPr lang="pt-PT" sz="1400" noProof="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PT" sz="1400" noProof="0" dirty="0" err="1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metagenómico</a:t>
            </a:r>
            <a:r>
              <a:rPr lang="pt-PT" sz="1400" noProof="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KMA).</a:t>
            </a:r>
            <a:endParaRPr lang="pt-PT" sz="1400" noProof="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pt-PT" sz="14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Só o SRR22262629 teve resultados, com match em apenas 4/51 enzimas:</a:t>
            </a:r>
            <a:endParaRPr lang="pt-PT" sz="1400" noProof="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2442648"/>
              </p:ext>
            </p:extLst>
          </p:nvPr>
        </p:nvGraphicFramePr>
        <p:xfrm>
          <a:off x="640079" y="3452869"/>
          <a:ext cx="5807374" cy="2635068"/>
        </p:xfrm>
        <a:graphic>
          <a:graphicData uri="http://schemas.openxmlformats.org/drawingml/2006/table">
            <a:tbl>
              <a:tblPr lastCol="1"/>
              <a:tblGrid>
                <a:gridCol w="20812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70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5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1917">
                  <a:extLst>
                    <a:ext uri="{9D8B030D-6E8A-4147-A177-3AD203B41FA5}">
                      <a16:colId xmlns:a16="http://schemas.microsoft.com/office/drawing/2014/main" val="3681195826"/>
                    </a:ext>
                  </a:extLst>
                </a:gridCol>
                <a:gridCol w="851917">
                  <a:extLst>
                    <a:ext uri="{9D8B030D-6E8A-4147-A177-3AD203B41FA5}">
                      <a16:colId xmlns:a16="http://schemas.microsoft.com/office/drawing/2014/main" val="2665654519"/>
                    </a:ext>
                  </a:extLst>
                </a:gridCol>
              </a:tblGrid>
              <a:tr h="52033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PT" sz="1100" b="1" noProof="0" dirty="0">
                          <a:solidFill>
                            <a:srgbClr val="FFFFFF"/>
                          </a:solidFill>
                        </a:rPr>
                        <a:t>Enzima</a:t>
                      </a:r>
                      <a:endParaRPr lang="pt-PT" sz="1100" noProof="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PT" sz="1100" b="1" noProof="0" dirty="0" err="1">
                          <a:solidFill>
                            <a:srgbClr val="FFFFFF"/>
                          </a:solidFill>
                        </a:rPr>
                        <a:t>Coverage</a:t>
                      </a:r>
                      <a:endParaRPr lang="pt-PT" sz="1100" noProof="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PT" sz="1100" b="1" noProof="0" dirty="0" err="1">
                          <a:solidFill>
                            <a:srgbClr val="FFFFFF"/>
                          </a:solidFill>
                        </a:rPr>
                        <a:t>Identity</a:t>
                      </a:r>
                      <a:endParaRPr lang="pt-PT" sz="1100" noProof="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PT" sz="1100" noProof="0" dirty="0" err="1">
                          <a:solidFill>
                            <a:schemeClr val="bg1"/>
                          </a:solidFill>
                        </a:rPr>
                        <a:t>UniProt</a:t>
                      </a:r>
                      <a:r>
                        <a:rPr lang="pt-PT" sz="1100" noProof="0" dirty="0">
                          <a:solidFill>
                            <a:schemeClr val="bg1"/>
                          </a:solidFill>
                        </a:rPr>
                        <a:t> ID</a:t>
                      </a: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PT" sz="1100" noProof="0" dirty="0" err="1">
                          <a:solidFill>
                            <a:schemeClr val="bg1"/>
                          </a:solidFill>
                        </a:rPr>
                        <a:t>Annotation</a:t>
                      </a:r>
                      <a:r>
                        <a:rPr lang="pt-PT" sz="1100" noProof="0" dirty="0">
                          <a:solidFill>
                            <a:schemeClr val="bg1"/>
                          </a:solidFill>
                        </a:rPr>
                        <a:t> score (</a:t>
                      </a:r>
                      <a:r>
                        <a:rPr lang="pt-PT" sz="1100" noProof="0" dirty="0" err="1">
                          <a:solidFill>
                            <a:schemeClr val="bg1"/>
                          </a:solidFill>
                        </a:rPr>
                        <a:t>UniProt</a:t>
                      </a:r>
                      <a:r>
                        <a:rPr lang="pt-PT" sz="1100" noProof="0" dirty="0">
                          <a:solidFill>
                            <a:schemeClr val="bg1"/>
                          </a:solidFill>
                        </a:rPr>
                        <a:t>)</a:t>
                      </a: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3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1050" noProof="0" dirty="0">
                          <a:solidFill>
                            <a:srgbClr val="000000"/>
                          </a:solidFill>
                        </a:rPr>
                        <a:t>Cut190 (S. </a:t>
                      </a:r>
                      <a:r>
                        <a:rPr lang="pt-PT" sz="1050" noProof="0" dirty="0" err="1">
                          <a:solidFill>
                            <a:srgbClr val="000000"/>
                          </a:solidFill>
                        </a:rPr>
                        <a:t>viridis</a:t>
                      </a:r>
                      <a:r>
                        <a:rPr lang="pt-PT" sz="1050" noProof="0" dirty="0">
                          <a:solidFill>
                            <a:srgbClr val="000000"/>
                          </a:solidFill>
                        </a:rPr>
                        <a:t>) - </a:t>
                      </a:r>
                      <a:r>
                        <a:rPr lang="pt-PT" sz="1050" noProof="0" dirty="0" err="1">
                          <a:solidFill>
                            <a:srgbClr val="000000"/>
                          </a:solidFill>
                        </a:rPr>
                        <a:t>Cutinase</a:t>
                      </a:r>
                      <a:endParaRPr lang="pt-PT" sz="1050" noProof="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PT" sz="1050" noProof="0" dirty="0">
                          <a:solidFill>
                            <a:schemeClr val="tx1"/>
                          </a:solidFill>
                        </a:rPr>
                        <a:t>2.84%</a:t>
                      </a: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PT" sz="1050" noProof="0" dirty="0">
                          <a:solidFill>
                            <a:schemeClr val="tx1"/>
                          </a:solidFill>
                        </a:rPr>
                        <a:t>2.62%</a:t>
                      </a: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PT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W0TJ64</a:t>
                      </a:r>
                      <a:endParaRPr lang="pt-PT" sz="1050" noProof="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PT" sz="1050" noProof="0" dirty="0"/>
                        <a:t>1/5</a:t>
                      </a: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3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1050" noProof="0" dirty="0">
                          <a:solidFill>
                            <a:srgbClr val="000000"/>
                          </a:solidFill>
                        </a:rPr>
                        <a:t>Est119 (T. alba) - </a:t>
                      </a:r>
                      <a:r>
                        <a:rPr lang="pt-PT" sz="1050" noProof="0" dirty="0" err="1">
                          <a:solidFill>
                            <a:srgbClr val="000000"/>
                          </a:solidFill>
                        </a:rPr>
                        <a:t>Cutinase</a:t>
                      </a:r>
                      <a:endParaRPr lang="pt-PT" sz="1050" noProof="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PT" sz="1050" noProof="0" dirty="0">
                          <a:solidFill>
                            <a:schemeClr val="tx1"/>
                          </a:solidFill>
                        </a:rPr>
                        <a:t>4.10%</a:t>
                      </a: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PT" sz="1050" noProof="0" dirty="0">
                          <a:solidFill>
                            <a:schemeClr val="tx1"/>
                          </a:solidFill>
                        </a:rPr>
                        <a:t>3.21%</a:t>
                      </a: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PT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F7IX06</a:t>
                      </a:r>
                      <a:endParaRPr lang="pt-PT" sz="1050" noProof="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PT" sz="1050" noProof="0" dirty="0"/>
                        <a:t>5/5</a:t>
                      </a: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3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1050" dirty="0">
                          <a:solidFill>
                            <a:srgbClr val="1A2E35"/>
                          </a:solidFill>
                          <a:latin typeface="+mn-lt"/>
                        </a:rPr>
                        <a:t>ESM058 (P. </a:t>
                      </a:r>
                      <a:r>
                        <a:rPr lang="pt-PT" sz="1050" dirty="0" err="1">
                          <a:solidFill>
                            <a:srgbClr val="1A2E35"/>
                          </a:solidFill>
                          <a:latin typeface="+mn-lt"/>
                        </a:rPr>
                        <a:t>houttuyneae</a:t>
                      </a:r>
                      <a:r>
                        <a:rPr lang="pt-PT" sz="1050" dirty="0">
                          <a:solidFill>
                            <a:srgbClr val="1A2E35"/>
                          </a:solidFill>
                          <a:latin typeface="+mn-lt"/>
                        </a:rPr>
                        <a:t>) - </a:t>
                      </a:r>
                      <a:r>
                        <a:rPr lang="pt-PT" sz="1050" dirty="0" err="1">
                          <a:solidFill>
                            <a:srgbClr val="1A2E35"/>
                          </a:solidFill>
                          <a:latin typeface="+mn-lt"/>
                        </a:rPr>
                        <a:t>Lipase</a:t>
                      </a:r>
                      <a:endParaRPr lang="pt-PT" sz="1050" noProof="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PT" sz="1050" dirty="0"/>
                        <a:t>1.41%</a:t>
                      </a:r>
                      <a:endParaRPr lang="pt-PT" sz="105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PT" sz="1050" dirty="0"/>
                        <a:t>1.41%</a:t>
                      </a:r>
                      <a:endParaRPr lang="pt-PT" sz="105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PT" sz="1050" dirty="0">
                          <a:solidFill>
                            <a:srgbClr val="1A2E35"/>
                          </a:solidFill>
                          <a:latin typeface="+mn-lt"/>
                        </a:rPr>
                        <a:t>A0A6V8KDL4</a:t>
                      </a:r>
                      <a:endParaRPr lang="pt-PT" sz="1050" noProof="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PT" sz="1050" noProof="0" dirty="0"/>
                        <a:t>1/5</a:t>
                      </a: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9802704"/>
                  </a:ext>
                </a:extLst>
              </a:tr>
              <a:tr h="5203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1050" dirty="0" err="1">
                          <a:solidFill>
                            <a:srgbClr val="1A2E35"/>
                          </a:solidFill>
                          <a:latin typeface="+mn-lt"/>
                        </a:rPr>
                        <a:t>Thh_Est</a:t>
                      </a:r>
                      <a:r>
                        <a:rPr lang="pt-PT" sz="1050" dirty="0">
                          <a:solidFill>
                            <a:srgbClr val="1A2E35"/>
                          </a:solidFill>
                          <a:latin typeface="+mn-lt"/>
                        </a:rPr>
                        <a:t> (T. </a:t>
                      </a:r>
                      <a:r>
                        <a:rPr lang="pt-PT" sz="1050" dirty="0" err="1">
                          <a:solidFill>
                            <a:srgbClr val="1A2E35"/>
                          </a:solidFill>
                          <a:latin typeface="+mn-lt"/>
                        </a:rPr>
                        <a:t>halotolerans</a:t>
                      </a:r>
                      <a:r>
                        <a:rPr lang="pt-PT" sz="1050" dirty="0">
                          <a:solidFill>
                            <a:srgbClr val="1A2E35"/>
                          </a:solidFill>
                          <a:latin typeface="+mn-lt"/>
                        </a:rPr>
                        <a:t>) - </a:t>
                      </a:r>
                      <a:r>
                        <a:rPr lang="pt-PT" sz="1050" dirty="0" err="1">
                          <a:solidFill>
                            <a:srgbClr val="1A2E35"/>
                          </a:solidFill>
                          <a:latin typeface="+mn-lt"/>
                        </a:rPr>
                        <a:t>PETase</a:t>
                      </a:r>
                      <a:endParaRPr lang="pt-PT" sz="1050" noProof="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PT" sz="1050" dirty="0"/>
                        <a:t>4.56%</a:t>
                      </a:r>
                      <a:endParaRPr lang="pt-PT" sz="105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PT" sz="1050" dirty="0"/>
                        <a:t>3.68%</a:t>
                      </a:r>
                      <a:endParaRPr lang="pt-PT" sz="105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PT" sz="1050" dirty="0">
                          <a:solidFill>
                            <a:srgbClr val="1A2E35"/>
                          </a:solidFill>
                          <a:latin typeface="+mn-lt"/>
                        </a:rPr>
                        <a:t>H6WX58</a:t>
                      </a:r>
                      <a:endParaRPr lang="pt-PT" sz="1050" noProof="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PT" sz="1050" noProof="0" dirty="0"/>
                        <a:t>2/5</a:t>
                      </a: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5137699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476718" y="1429583"/>
            <a:ext cx="3840480" cy="2194560"/>
          </a:xfrm>
          <a:prstGeom prst="roundRect">
            <a:avLst>
              <a:gd name="adj" fmla="val 6136"/>
            </a:avLst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8" name="Text 5"/>
          <p:cNvSpPr/>
          <p:nvPr/>
        </p:nvSpPr>
        <p:spPr>
          <a:xfrm>
            <a:off x="7528560" y="1479769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PT" sz="1400" b="1" noProof="0" dirty="0">
                <a:solidFill>
                  <a:srgbClr val="0B3C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Interpretação</a:t>
            </a:r>
            <a:endParaRPr lang="pt-PT" sz="1400" noProof="0" dirty="0"/>
          </a:p>
        </p:txBody>
      </p:sp>
      <p:sp>
        <p:nvSpPr>
          <p:cNvPr id="9" name="Text 6"/>
          <p:cNvSpPr/>
          <p:nvPr/>
        </p:nvSpPr>
        <p:spPr>
          <a:xfrm>
            <a:off x="7544531" y="1895715"/>
            <a:ext cx="3824509" cy="16536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PT" sz="1400" noProof="0" dirty="0">
                <a:solidFill>
                  <a:srgbClr val="1A2E35"/>
                </a:solidFill>
                <a:ea typeface="Calibri" pitchFamily="34" charset="-122"/>
                <a:cs typeface="Calibri" pitchFamily="34" charset="-120"/>
              </a:rPr>
              <a:t>Cobertura &lt;5% e identidade &lt;4% </a:t>
            </a:r>
            <a:endParaRPr lang="pt-PT" sz="1400" noProof="0" dirty="0"/>
          </a:p>
          <a:p>
            <a:pPr marL="0" indent="0">
              <a:buNone/>
            </a:pPr>
            <a:r>
              <a:rPr lang="pt-PT" sz="1400" noProof="0" dirty="0">
                <a:solidFill>
                  <a:srgbClr val="1A2E35"/>
                </a:solidFill>
                <a:ea typeface="Calibri" pitchFamily="34" charset="-122"/>
                <a:cs typeface="Calibri" pitchFamily="34" charset="-120"/>
              </a:rPr>
              <a:t>Provável explicação: </a:t>
            </a:r>
            <a:endParaRPr lang="pt-PT" sz="1400" noProof="0" dirty="0"/>
          </a:p>
          <a:p>
            <a:pPr marL="0" indent="0">
              <a:buNone/>
            </a:pPr>
            <a:r>
              <a:rPr lang="pt-PT" sz="1400" dirty="0">
                <a:solidFill>
                  <a:srgbClr val="1A2E35"/>
                </a:solidFill>
                <a:ea typeface="Calibri" pitchFamily="34" charset="-122"/>
                <a:cs typeface="Calibri" pitchFamily="34" charset="-120"/>
              </a:rPr>
              <a:t>Utilização </a:t>
            </a:r>
            <a:r>
              <a:rPr lang="pt-PT" sz="1400" noProof="0" dirty="0">
                <a:solidFill>
                  <a:srgbClr val="1A2E35"/>
                </a:solidFill>
                <a:ea typeface="Calibri" pitchFamily="34" charset="-122"/>
                <a:cs typeface="Calibri" pitchFamily="34" charset="-120"/>
              </a:rPr>
              <a:t>de apenas </a:t>
            </a:r>
            <a:r>
              <a:rPr lang="pt-PT" sz="1400" dirty="0">
                <a:solidFill>
                  <a:srgbClr val="1A2E35"/>
                </a:solidFill>
                <a:ea typeface="Calibri" pitchFamily="34" charset="-122"/>
                <a:cs typeface="Calibri" pitchFamily="34" charset="-120"/>
              </a:rPr>
              <a:t>51</a:t>
            </a:r>
            <a:r>
              <a:rPr lang="pt-PT" sz="1400" noProof="0" dirty="0">
                <a:solidFill>
                  <a:srgbClr val="1A2E35"/>
                </a:solidFill>
                <a:ea typeface="Calibri" pitchFamily="34" charset="-122"/>
                <a:cs typeface="Calibri" pitchFamily="34" charset="-120"/>
              </a:rPr>
              <a:t>/312 enzimas.</a:t>
            </a:r>
            <a:br>
              <a:rPr lang="pt-PT" sz="1400" noProof="0" dirty="0">
                <a:solidFill>
                  <a:srgbClr val="1A2E35"/>
                </a:solidFill>
                <a:ea typeface="Calibri" pitchFamily="34" charset="-122"/>
                <a:cs typeface="Calibri" pitchFamily="34" charset="-120"/>
              </a:rPr>
            </a:br>
            <a:r>
              <a:rPr lang="pt-PT" sz="1400" noProof="0" dirty="0">
                <a:solidFill>
                  <a:srgbClr val="1A2E35"/>
                </a:solidFill>
                <a:ea typeface="Calibri" pitchFamily="34" charset="-122"/>
                <a:cs typeface="Calibri" pitchFamily="34" charset="-120"/>
              </a:rPr>
              <a:t>Falsos positivos que </a:t>
            </a:r>
            <a:r>
              <a:rPr lang="pt-PT" sz="1400" dirty="0">
                <a:solidFill>
                  <a:srgbClr val="1A2E35"/>
                </a:solidFill>
                <a:ea typeface="Calibri" pitchFamily="34" charset="-122"/>
                <a:cs typeface="Calibri" pitchFamily="34" charset="-120"/>
              </a:rPr>
              <a:t>será necessário analisar.</a:t>
            </a:r>
          </a:p>
          <a:p>
            <a:pPr marL="0" indent="0">
              <a:buNone/>
            </a:pPr>
            <a:r>
              <a:rPr lang="pt-PT" sz="1400" dirty="0">
                <a:solidFill>
                  <a:srgbClr val="1A2E35"/>
                </a:solidFill>
                <a:ea typeface="Calibri" pitchFamily="34" charset="-122"/>
                <a:cs typeface="Calibri" pitchFamily="34" charset="-120"/>
              </a:rPr>
              <a:t>Os SRA do artigo não eram os ideais.</a:t>
            </a:r>
            <a:endParaRPr lang="pt-PT" sz="1400" noProof="0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32E2C611-90AD-DCC7-C28C-7C1DCD2A83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20" t="15852" r="5190" b="6928"/>
          <a:stretch>
            <a:fillRect/>
          </a:stretch>
        </p:blipFill>
        <p:spPr>
          <a:xfrm>
            <a:off x="7138219" y="3733164"/>
            <a:ext cx="2213557" cy="1103626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001B520D-970D-751F-8F3D-7CF5F4E35B1A}"/>
              </a:ext>
            </a:extLst>
          </p:cNvPr>
          <p:cNvSpPr txBox="1"/>
          <p:nvPr/>
        </p:nvSpPr>
        <p:spPr>
          <a:xfrm>
            <a:off x="6951541" y="4842382"/>
            <a:ext cx="25869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PT" sz="1400" dirty="0"/>
              <a:t>Modelo 3D - Cut190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2CEB3DFE-5ABC-3F67-0939-B250C707CCD9}"/>
              </a:ext>
            </a:extLst>
          </p:cNvPr>
          <p:cNvSpPr txBox="1"/>
          <p:nvPr/>
        </p:nvSpPr>
        <p:spPr>
          <a:xfrm>
            <a:off x="9635737" y="4834824"/>
            <a:ext cx="24155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PT" sz="1400" dirty="0"/>
              <a:t>Modelo 3D - Est119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088237EC-276C-0A7B-3CC7-BD27818BF1D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049" b="6427"/>
          <a:stretch>
            <a:fillRect/>
          </a:stretch>
        </p:blipFill>
        <p:spPr>
          <a:xfrm>
            <a:off x="9635737" y="3733164"/>
            <a:ext cx="2160023" cy="1109218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07380FD7-F595-7EF2-85E4-9B99FCFF92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14399" y="5109145"/>
            <a:ext cx="1637522" cy="978792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B61616CA-E367-399F-88F9-1551FC96F131}"/>
              </a:ext>
            </a:extLst>
          </p:cNvPr>
          <p:cNvSpPr txBox="1"/>
          <p:nvPr/>
        </p:nvSpPr>
        <p:spPr>
          <a:xfrm>
            <a:off x="9693911" y="6257263"/>
            <a:ext cx="20784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PT" sz="1400" dirty="0">
                <a:solidFill>
                  <a:srgbClr val="1A2E35"/>
                </a:solidFill>
              </a:rPr>
              <a:t>ESM058 - Modelo 3D</a:t>
            </a:r>
            <a:endParaRPr lang="pt-PT" sz="1400" dirty="0"/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A7FA6371-560D-7202-DDCA-4EB16F120A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2596" y="5123928"/>
            <a:ext cx="1292433" cy="1090704"/>
          </a:xfrm>
          <a:prstGeom prst="rect">
            <a:avLst/>
          </a:prstGeom>
        </p:spPr>
      </p:pic>
      <p:sp>
        <p:nvSpPr>
          <p:cNvPr id="21" name="CaixaDeTexto 20">
            <a:extLst>
              <a:ext uri="{FF2B5EF4-FFF2-40B4-BE49-F238E27FC236}">
                <a16:creationId xmlns:a16="http://schemas.microsoft.com/office/drawing/2014/main" id="{0FBD99EB-E0FF-5C21-F68F-0FBCCAE29F03}"/>
              </a:ext>
            </a:extLst>
          </p:cNvPr>
          <p:cNvSpPr txBox="1"/>
          <p:nvPr/>
        </p:nvSpPr>
        <p:spPr>
          <a:xfrm>
            <a:off x="6951541" y="6257263"/>
            <a:ext cx="21826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PT" sz="1400" dirty="0" err="1">
                <a:solidFill>
                  <a:srgbClr val="1A2E35"/>
                </a:solidFill>
                <a:latin typeface="+mn-lt"/>
              </a:rPr>
              <a:t>Thh_Est</a:t>
            </a:r>
            <a:r>
              <a:rPr lang="pt-PT" sz="1400" dirty="0">
                <a:solidFill>
                  <a:srgbClr val="1A2E35"/>
                </a:solidFill>
              </a:rPr>
              <a:t> – Modelo 3D</a:t>
            </a:r>
            <a:r>
              <a:rPr lang="pt-PT" sz="1400" dirty="0">
                <a:solidFill>
                  <a:srgbClr val="1A2E35"/>
                </a:solidFill>
                <a:latin typeface="+mn-lt"/>
              </a:rPr>
              <a:t> </a:t>
            </a:r>
            <a:endParaRPr lang="pt-PT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PT" sz="2600" b="1" dirty="0">
                <a:solidFill>
                  <a:srgbClr val="0B3C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r>
              <a:rPr lang="pt-PT" sz="2600" b="1" noProof="0" dirty="0" err="1">
                <a:solidFill>
                  <a:srgbClr val="0B3C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róximos</a:t>
            </a:r>
            <a:r>
              <a:rPr lang="pt-PT" sz="2600" b="1" noProof="0" dirty="0">
                <a:solidFill>
                  <a:srgbClr val="0B3C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passos</a:t>
            </a:r>
            <a:endParaRPr lang="pt-PT" sz="2600" noProof="0" dirty="0"/>
          </a:p>
        </p:txBody>
      </p:sp>
      <p:sp>
        <p:nvSpPr>
          <p:cNvPr id="3" name="Text 1"/>
          <p:cNvSpPr/>
          <p:nvPr/>
        </p:nvSpPr>
        <p:spPr>
          <a:xfrm>
            <a:off x="11155680" y="3657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pt-PT" sz="1400" b="1" noProof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pt-PT" sz="1400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2590508"/>
            <a:ext cx="11247120" cy="2384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lvl="1" indent="-228600">
              <a:spcAft>
                <a:spcPts val="600"/>
              </a:spcAft>
              <a:buSzPct val="100000"/>
              <a:buChar char="▪"/>
            </a:pPr>
            <a:r>
              <a:rPr lang="pt-PT" noProof="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M-</a:t>
            </a:r>
            <a:r>
              <a:rPr lang="pt-PT" noProof="0" dirty="0" err="1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</a:t>
            </a:r>
            <a:r>
              <a:rPr lang="pt-PT" noProof="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têm potencial e acredito que seja uma ferramenta que vá ser muito útil mas vou ter que:</a:t>
            </a:r>
          </a:p>
          <a:p>
            <a:pPr marL="457200" lvl="1" indent="-228600">
              <a:spcAft>
                <a:spcPts val="600"/>
              </a:spcAft>
              <a:buSzPct val="100000"/>
              <a:buChar char="▪"/>
            </a:pPr>
            <a:r>
              <a:rPr lang="pt-PT" noProof="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 a </a:t>
            </a:r>
            <a:r>
              <a:rPr lang="pt-PT" noProof="0" dirty="0" err="1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</a:t>
            </a:r>
            <a:r>
              <a:rPr lang="pt-PT" noProof="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as 312 enzimas (não só 51) sobre ambos os </a:t>
            </a:r>
            <a:r>
              <a:rPr lang="pt-PT" noProof="0" dirty="0" err="1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SRAs.</a:t>
            </a:r>
            <a:endParaRPr lang="pt-PT" noProof="0" dirty="0"/>
          </a:p>
          <a:p>
            <a:pPr marL="457200" lvl="1" indent="-228600">
              <a:spcAft>
                <a:spcPts val="600"/>
              </a:spcAft>
              <a:buSzPct val="100000"/>
              <a:buChar char="▪"/>
            </a:pPr>
            <a:r>
              <a:rPr lang="pt-PT" noProof="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resultados para procurar falsos positivos.</a:t>
            </a:r>
          </a:p>
          <a:p>
            <a:pPr marL="457200" lvl="1" indent="-228600">
              <a:spcAft>
                <a:spcPts val="600"/>
              </a:spcAft>
              <a:buSzPct val="100000"/>
              <a:buChar char="▪"/>
            </a:pPr>
            <a:r>
              <a:rPr lang="pt-PT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Continuar a analise dos resultados e testar com mais </a:t>
            </a:r>
            <a:r>
              <a:rPr lang="pt-PT" dirty="0" err="1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r>
              <a:rPr lang="pt-PT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outros tipos de plásticos além do PET.</a:t>
            </a:r>
          </a:p>
          <a:p>
            <a:pPr marL="457200" lvl="1" indent="-228600">
              <a:spcAft>
                <a:spcPts val="600"/>
              </a:spcAft>
              <a:buSzPct val="100000"/>
              <a:buChar char="▪"/>
            </a:pPr>
            <a:r>
              <a:rPr lang="pt-PT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tiver a aplicação validada começar a preparar informações para se fazer um artigo.</a:t>
            </a:r>
            <a:endParaRPr lang="pt-PT" noProof="0" dirty="0">
              <a:solidFill>
                <a:srgbClr val="1A2E3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457200" lvl="1" indent="-228600">
              <a:spcAft>
                <a:spcPts val="600"/>
              </a:spcAft>
              <a:buSzPct val="100000"/>
              <a:buChar char="▪"/>
            </a:pPr>
            <a:endParaRPr lang="pt-PT" sz="16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567</TotalTime>
  <Words>1106</Words>
  <Application>Microsoft Office PowerPoint</Application>
  <PresentationFormat>Ecrã Panorâmico</PresentationFormat>
  <Paragraphs>201</Paragraphs>
  <Slides>11</Slides>
  <Notes>9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11</vt:i4>
      </vt:variant>
    </vt:vector>
  </HeadingPairs>
  <TitlesOfParts>
    <vt:vector size="15" baseType="lpstr">
      <vt:lpstr>Arial</vt:lpstr>
      <vt:lpstr>Calibri</vt:lpstr>
      <vt:lpstr>Trebuchet MS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M-PARTY - Plastic-Degrading Enzymes</dc:title>
  <dc:subject>PptxGenJS Presentation</dc:subject>
  <dc:creator>Mestrado Bioinformática Médica - UMinho</dc:creator>
  <cp:lastModifiedBy>David Eduardo Brandão</cp:lastModifiedBy>
  <cp:revision>40</cp:revision>
  <dcterms:created xsi:type="dcterms:W3CDTF">2026-05-28T16:09:27Z</dcterms:created>
  <dcterms:modified xsi:type="dcterms:W3CDTF">2026-05-31T18:30:28Z</dcterms:modified>
</cp:coreProperties>
</file>