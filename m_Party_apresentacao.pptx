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1" r:id="rId7"/>
    <p:sldId id="263" r:id="rId8"/>
    <p:sldId id="267" r:id="rId9"/>
    <p:sldId id="268" r:id="rId10"/>
    <p:sldId id="269" r:id="rId11"/>
    <p:sldId id="265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20" autoAdjust="0"/>
  </p:normalViewPr>
  <p:slideViewPr>
    <p:cSldViewPr snapToGrid="0" snapToObjects="1">
      <p:cViewPr varScale="1">
        <p:scale>
          <a:sx n="78" d="100"/>
          <a:sy n="78" d="100"/>
        </p:scale>
        <p:origin x="8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title>
      <c:tx>
        <c:rich>
          <a:bodyPr/>
          <a:lstStyle/>
          <a:p>
            <a:r>
              <a:rPr lang="pt-PT" sz="1300" b="1" noProof="0" dirty="0">
                <a:solidFill>
                  <a:srgbClr val="0B3C49"/>
                </a:solidFill>
              </a:rPr>
              <a:t>Classes funcionais no </a:t>
            </a:r>
            <a:r>
              <a:rPr lang="pt-PT" sz="1300" b="1" noProof="0" dirty="0" err="1">
                <a:solidFill>
                  <a:srgbClr val="0B3C49"/>
                </a:solidFill>
              </a:rPr>
              <a:t>PAZy</a:t>
            </a:r>
            <a:endParaRPr lang="pt-PT" sz="1300" b="1" noProof="0" dirty="0">
              <a:solidFill>
                <a:srgbClr val="0B3C49"/>
              </a:solidFill>
            </a:endParaRPr>
          </a:p>
        </c:rich>
      </c:tx>
      <c:layout>
        <c:manualLayout>
          <c:xMode val="edge"/>
          <c:yMode val="edge"/>
          <c:x val="0.45509623797025361"/>
          <c:y val="2.6041666666666668E-2"/>
        </c:manualLayout>
      </c:layout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Nº (n=320)</c:v>
                </c:pt>
              </c:strCache>
            </c:strRef>
          </c:tx>
          <c:spPr>
            <a:solidFill>
              <a:srgbClr val="02809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A2E35"/>
                    </a:solidFill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MHETase</c:v>
                </c:pt>
                <c:pt idx="1">
                  <c:v>BHETase</c:v>
                </c:pt>
                <c:pt idx="2">
                  <c:v>Lipase</c:v>
                </c:pt>
                <c:pt idx="3">
                  <c:v>TfH/BTA hydrolase</c:v>
                </c:pt>
                <c:pt idx="4">
                  <c:v>LCC</c:v>
                </c:pt>
                <c:pt idx="5">
                  <c:v>Carboxylesterase</c:v>
                </c:pt>
                <c:pt idx="6">
                  <c:v>Cutinase</c:v>
                </c:pt>
                <c:pt idx="7">
                  <c:v>PETase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11</c:v>
                </c:pt>
                <c:pt idx="6">
                  <c:v>33</c:v>
                </c:pt>
                <c:pt idx="7">
                  <c:v>247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E0C-4F0F-9E91-6C1B17AE52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pt-PT" sz="1300" b="1" noProof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taxonómica (Filo)</a:t>
            </a:r>
            <a:endParaRPr lang="pt-PT" sz="1300" noProof="0" dirty="0"/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Filos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E7-4276-86E1-D0BF62914217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E7-4276-86E1-D0BF62914217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E7-4276-86E1-D0BF62914217}"/>
              </c:ext>
            </c:extLst>
          </c:dPt>
          <c:dPt>
            <c:idx val="3"/>
            <c:bubble3D val="0"/>
            <c:spPr>
              <a:solidFill>
                <a:srgbClr val="F2C1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E7-4276-86E1-D0BF62914217}"/>
              </c:ext>
            </c:extLst>
          </c:dPt>
          <c:dPt>
            <c:idx val="4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E7-4276-86E1-D0BF629142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E7-4276-86E1-D0BF629142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E7-4276-86E1-D0BF629142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E7-4276-86E1-D0BF6291421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E7-4276-86E1-D0BF6291421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P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BE7-4276-86E1-D0BF629142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PT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Actinomycetota</c:v>
                </c:pt>
                <c:pt idx="1">
                  <c:v>Pseudomonadota</c:v>
                </c:pt>
                <c:pt idx="2">
                  <c:v>Bacillota</c:v>
                </c:pt>
                <c:pt idx="3">
                  <c:v>Ascomycota</c:v>
                </c:pt>
                <c:pt idx="4">
                  <c:v>Outros (9 filos)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212</c:v>
                </c:pt>
                <c:pt idx="1">
                  <c:v>50</c:v>
                </c:pt>
                <c:pt idx="2">
                  <c:v>14</c:v>
                </c:pt>
                <c:pt idx="3">
                  <c:v>7</c:v>
                </c:pt>
                <c:pt idx="4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BE7-4276-86E1-D0BF629142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44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BEA1-4AA6-8F97-9CE7-D015158E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B8DF0-CBA6-250B-3BBB-F5348ABF7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28FA1-B724-F695-3E4F-CB83D372C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5C13D-61DC-2148-9AC1-A58ACF9F4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13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3" name="Shape 1"/>
          <p:cNvSpPr/>
          <p:nvPr/>
        </p:nvSpPr>
        <p:spPr>
          <a:xfrm>
            <a:off x="10789920" y="4754880"/>
            <a:ext cx="2743200" cy="27432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Improving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Bioinformatic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for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Plastic-Degrading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Enzymes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</a:t>
            </a:r>
            <a:r>
              <a:rPr lang="pt-PT" sz="29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t-PT" sz="29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Metagenomes</a:t>
            </a:r>
            <a:endParaRPr lang="pt-PT" sz="29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1700" i="1" noProof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 aplicação da ferramenta M-PARTY</a:t>
            </a:r>
            <a:endParaRPr lang="pt-PT" sz="17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4572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PT" sz="1400" noProof="0" dirty="0">
                <a:solidFill>
                  <a:srgbClr val="CFE8E8"/>
                </a:solidFill>
              </a:rPr>
              <a:t>David Brandão</a:t>
            </a:r>
            <a:endParaRPr lang="pt-PT" sz="1400" noProof="0" dirty="0"/>
          </a:p>
          <a:p>
            <a:r>
              <a:rPr lang="pt-PT" sz="1200" noProof="0" dirty="0">
                <a:solidFill>
                  <a:srgbClr val="9FC5C5"/>
                </a:solidFill>
              </a:rPr>
              <a:t>Orientadores: Doutora Andreia Salvador, José Freitas e Diogo Cachetas.</a:t>
            </a:r>
          </a:p>
          <a:p>
            <a:pPr marL="0" indent="0">
              <a:buNone/>
            </a:pPr>
            <a:r>
              <a:rPr lang="pt-PT" sz="1200" noProof="0" dirty="0">
                <a:solidFill>
                  <a:srgbClr val="9FC5C5"/>
                </a:solidFill>
              </a:rPr>
              <a:t>Mestrado em Bioinformática Médica · Universidade do Minho · 2026</a:t>
            </a:r>
            <a:endParaRPr lang="pt-PT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 err="1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Microplásticos</a:t>
            </a: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 enzimas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8229600" y="2517058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6" name="Text 4"/>
          <p:cNvSpPr/>
          <p:nvPr/>
        </p:nvSpPr>
        <p:spPr>
          <a:xfrm>
            <a:off x="8229600" y="2654218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4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 MT</a:t>
            </a:r>
            <a:endParaRPr lang="pt-PT" sz="4400" noProof="0" dirty="0"/>
          </a:p>
          <a:p>
            <a:pPr marL="0" indent="0" algn="ctr">
              <a:buNone/>
            </a:pPr>
            <a:r>
              <a:rPr lang="pt-PT" sz="1300" noProof="0" dirty="0">
                <a:solidFill>
                  <a:srgbClr val="DFF3F3"/>
                </a:solidFill>
              </a:rPr>
              <a:t>de plástico produzidas</a:t>
            </a:r>
            <a:endParaRPr lang="pt-PT" sz="4400" noProof="0" dirty="0"/>
          </a:p>
          <a:p>
            <a:pPr marL="0" indent="0" algn="ctr">
              <a:buNone/>
            </a:pPr>
            <a:r>
              <a:rPr lang="pt-PT" sz="1300" noProof="0" dirty="0">
                <a:solidFill>
                  <a:srgbClr val="DFF3F3"/>
                </a:solidFill>
              </a:rPr>
              <a:t>Em 2022. &lt;10% reciclado</a:t>
            </a:r>
            <a:endParaRPr lang="pt-PT" sz="4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0" y="4663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PT" sz="900" noProof="0" dirty="0"/>
              <a:t>Fonte: https://www.nature.com/commsenv/</a:t>
            </a:r>
          </a:p>
        </p:txBody>
      </p:sp>
      <p:sp>
        <p:nvSpPr>
          <p:cNvPr id="8" name="Text 6"/>
          <p:cNvSpPr/>
          <p:nvPr/>
        </p:nvSpPr>
        <p:spPr>
          <a:xfrm>
            <a:off x="579120" y="2880360"/>
            <a:ext cx="7315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aumento de plásticos no ambiente é um problema global, com impacto nos ecossistemas, na cadeia alimentar e na saúde humana.</a:t>
            </a:r>
            <a:endParaRPr lang="pt-PT" sz="1600" noProof="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Uma forma de combater este problema é através de organismos que conseguem degradar estes plásticos.</a:t>
            </a:r>
            <a:endParaRPr lang="pt-PT" sz="1600" noProof="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Atualmente não há nenhuma forma prática e sistemática de identificar organismos e enzimas com esta capacidade.</a:t>
            </a:r>
            <a:endParaRPr lang="pt-PT" sz="16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e oportunidade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2491272"/>
            <a:ext cx="7498080" cy="2926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FontTx/>
              <a:buChar char="•"/>
            </a:pPr>
            <a:r>
              <a:rPr lang="pt-PT" sz="1600" noProof="0" dirty="0"/>
              <a:t>A diversidade microbiana existente é vasta e pouco explorada relativamente à sua capacidade de degradar plásticos.</a:t>
            </a:r>
            <a:endParaRPr lang="pt-PT" sz="1600" noProof="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pt-PT" sz="1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metagenoma</a:t>
            </a: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tem milhões de </a:t>
            </a:r>
            <a:r>
              <a:rPr lang="pt-PT" sz="1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 centenas de milhares de genes - só uma minoria de enzimas codifica plástico.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Procurar estas enzimas manualmente não é viável para centenas de amostras nem capta homologia distante.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Isto cria uma oportunidade: integrar perfis HMM (sensíveis a homologia) com mapeamento direto de </a:t>
            </a:r>
            <a:r>
              <a:rPr lang="pt-PT" sz="1600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com objetivo de identificar enzimas que degradam plástico num pipeline único e reprodutível.</a:t>
            </a:r>
            <a:endParaRPr lang="pt-PT" sz="1600" noProof="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6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isto que o M-PARTY vai fazer.</a:t>
            </a:r>
            <a:endParaRPr lang="pt-PT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8442960" y="2491272"/>
            <a:ext cx="3200400" cy="2452081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7" name="Text 5"/>
          <p:cNvSpPr/>
          <p:nvPr/>
        </p:nvSpPr>
        <p:spPr>
          <a:xfrm>
            <a:off x="8534400" y="2925147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pt-PT" sz="1300" noProof="0" dirty="0">
                <a:solidFill>
                  <a:srgbClr val="5A6B70"/>
                </a:solidFill>
              </a:rPr>
              <a:t>Milhões de </a:t>
            </a:r>
            <a:r>
              <a:rPr lang="pt-PT" sz="1300" noProof="0" dirty="0" err="1">
                <a:solidFill>
                  <a:srgbClr val="5A6B70"/>
                </a:solidFill>
              </a:rPr>
              <a:t>reads</a:t>
            </a:r>
            <a:endParaRPr lang="pt-PT" sz="1500" noProof="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pt-PT" sz="1800" noProof="0" dirty="0">
                <a:solidFill>
                  <a:srgbClr val="00A896"/>
                </a:solidFill>
              </a:rPr>
              <a:t>↓</a:t>
            </a:r>
            <a:endParaRPr lang="pt-PT" sz="1500" noProof="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pt-PT" sz="1300" b="1" noProof="0" dirty="0">
                <a:solidFill>
                  <a:srgbClr val="028090"/>
                </a:solidFill>
              </a:rPr>
              <a:t>M-PARTY (HMM + KMA)</a:t>
            </a:r>
            <a:endParaRPr lang="pt-PT" sz="1500" noProof="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pt-PT" sz="1800" noProof="0" dirty="0">
                <a:solidFill>
                  <a:srgbClr val="00A896"/>
                </a:solidFill>
              </a:rPr>
              <a:t>↓</a:t>
            </a:r>
            <a:endParaRPr lang="pt-PT" sz="1500" noProof="0" dirty="0"/>
          </a:p>
          <a:p>
            <a:pPr marL="0" indent="0" algn="ctr">
              <a:buNone/>
            </a:pPr>
            <a:r>
              <a:rPr lang="pt-PT" sz="1300" noProof="0" dirty="0">
                <a:solidFill>
                  <a:srgbClr val="1A2E35"/>
                </a:solidFill>
              </a:rPr>
              <a:t>Enzimas homólogas</a:t>
            </a:r>
            <a:endParaRPr lang="pt-PT" sz="15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do projeto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pt-PT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600" noProof="0" dirty="0"/>
              <a:t>Construir uma base de modelos HMM a partir de enzimas degradadoras de plástico</a:t>
            </a:r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pt-PT" sz="2200" noProof="0" dirty="0"/>
          </a:p>
        </p:txBody>
      </p:sp>
      <p:sp>
        <p:nvSpPr>
          <p:cNvPr id="10" name="Text 8"/>
          <p:cNvSpPr/>
          <p:nvPr/>
        </p:nvSpPr>
        <p:spPr>
          <a:xfrm>
            <a:off x="1645920" y="2560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600" dirty="0"/>
              <a:t>Aplicar o M-PARTY a </a:t>
            </a:r>
            <a:r>
              <a:rPr lang="pt-PT" sz="1600" dirty="0" err="1"/>
              <a:t>datasets</a:t>
            </a:r>
            <a:r>
              <a:rPr lang="pt-PT" sz="1600" dirty="0"/>
              <a:t> </a:t>
            </a:r>
            <a:r>
              <a:rPr lang="pt-PT" sz="1600" dirty="0" err="1"/>
              <a:t>metagenómicos</a:t>
            </a:r>
            <a:r>
              <a:rPr lang="pt-PT" sz="1600" dirty="0"/>
              <a:t> e identificar candidatos a enzimas degradadoras de PET.</a:t>
            </a:r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pt-PT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1645920" y="36118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600" dirty="0"/>
              <a:t>Validar o pipeline do M-PARTY e garantir que cada </a:t>
            </a:r>
            <a:r>
              <a:rPr lang="pt-PT" sz="1600" dirty="0" err="1"/>
              <a:t>workflow</a:t>
            </a:r>
            <a:r>
              <a:rPr lang="pt-PT" sz="1600" dirty="0"/>
              <a:t> corre sem erros.</a:t>
            </a:r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PT" noProof="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2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pt-PT" sz="2200" noProof="0" dirty="0"/>
          </a:p>
        </p:txBody>
      </p:sp>
      <p:sp>
        <p:nvSpPr>
          <p:cNvPr id="16" name="Text 14"/>
          <p:cNvSpPr/>
          <p:nvPr/>
        </p:nvSpPr>
        <p:spPr>
          <a:xfrm>
            <a:off x="1645920" y="46634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PT" sz="1600" noProof="0" dirty="0"/>
              <a:t>Preparar um pipeline reprodutível que suporte a publicação de um artigo científico.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sz="2600" b="1" noProof="0" dirty="0">
                <a:solidFill>
                  <a:srgbClr val="0B3C49"/>
                </a:solidFill>
                <a:latin typeface="Trebuchet MS"/>
              </a:rPr>
              <a:t>A ferramenta M-PARTY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pt-PT" sz="1400" b="1" noProof="0" dirty="0">
                <a:solidFill>
                  <a:srgbClr val="028090"/>
                </a:solidFill>
              </a:rPr>
              <a:t>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88720"/>
            <a:ext cx="1051560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298448"/>
            <a:ext cx="11064240" cy="457200"/>
          </a:xfrm>
          <a:prstGeom prst="roundRect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200" b="1" noProof="0" dirty="0">
                <a:solidFill>
                  <a:srgbClr val="FFFFFF"/>
                </a:solidFill>
                <a:latin typeface="Calibri"/>
              </a:rPr>
              <a:t>M-PARTY recebe proteínas de interesse, constrói modelos HMM e procura enzimas homólogas em </a:t>
            </a:r>
            <a:r>
              <a:rPr lang="pt-PT" sz="1200" b="1" noProof="0" dirty="0" err="1">
                <a:solidFill>
                  <a:srgbClr val="FFFFFF"/>
                </a:solidFill>
                <a:latin typeface="Calibri"/>
              </a:rPr>
              <a:t>metagenomas</a:t>
            </a:r>
            <a:r>
              <a:rPr lang="pt-PT" sz="1200" b="1" noProof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51760" cy="1280160"/>
          </a:xfrm>
          <a:prstGeom prst="roundRect">
            <a:avLst>
              <a:gd name="adj" fmla="val 35617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050" b="1" noProof="0" dirty="0">
                <a:solidFill>
                  <a:srgbClr val="FFFFFF"/>
                </a:solidFill>
                <a:latin typeface="Calibri"/>
              </a:rPr>
              <a:t>Proteínas de</a:t>
            </a:r>
          </a:p>
          <a:p>
            <a:pPr algn="ctr"/>
            <a:r>
              <a:rPr lang="pt-PT" sz="1050" b="1" noProof="0" dirty="0">
                <a:solidFill>
                  <a:srgbClr val="FFFFFF"/>
                </a:solidFill>
                <a:latin typeface="Calibri"/>
              </a:rPr>
              <a:t>interesse</a:t>
            </a:r>
          </a:p>
          <a:p>
            <a:pPr algn="ctr"/>
            <a:r>
              <a:rPr lang="pt-PT" sz="1050" b="1" noProof="0" dirty="0">
                <a:solidFill>
                  <a:srgbClr val="FFFFFF"/>
                </a:solidFill>
                <a:latin typeface="Calibri"/>
              </a:rPr>
              <a:t>(</a:t>
            </a:r>
            <a:r>
              <a:rPr lang="pt-PT" sz="1050" b="1" noProof="0" dirty="0" err="1">
                <a:solidFill>
                  <a:srgbClr val="FFFFFF"/>
                </a:solidFill>
                <a:latin typeface="Calibri"/>
              </a:rPr>
              <a:t>PAZy</a:t>
            </a:r>
            <a:r>
              <a:rPr lang="pt-PT" sz="1050" b="1" noProof="0" dirty="0">
                <a:solidFill>
                  <a:srgbClr val="FFFFFF"/>
                </a:solidFill>
                <a:latin typeface="Calibri"/>
              </a:rPr>
              <a:t> - KEGG -</a:t>
            </a:r>
          </a:p>
          <a:p>
            <a:pPr algn="ctr"/>
            <a:r>
              <a:rPr lang="pt-PT" sz="1050" b="1" noProof="0" dirty="0" err="1">
                <a:solidFill>
                  <a:srgbClr val="FFFFFF"/>
                </a:solidFill>
                <a:latin typeface="Calibri"/>
              </a:rPr>
              <a:t>InterPro</a:t>
            </a:r>
            <a:r>
              <a:rPr lang="pt-PT" sz="1050" b="1" noProof="0" dirty="0">
                <a:solidFill>
                  <a:srgbClr val="FFFFFF"/>
                </a:solidFill>
                <a:latin typeface="Calibri"/>
              </a:rPr>
              <a:t> – </a:t>
            </a:r>
            <a:r>
              <a:rPr lang="pt-PT" sz="1050" b="1" noProof="0" dirty="0" err="1">
                <a:solidFill>
                  <a:srgbClr val="FFFFFF"/>
                </a:solidFill>
                <a:latin typeface="Calibri"/>
              </a:rPr>
              <a:t>Dataset</a:t>
            </a:r>
            <a:r>
              <a:rPr lang="pt-PT" sz="1050" b="1" noProof="0" dirty="0">
                <a:solidFill>
                  <a:srgbClr val="FFFFFF"/>
                </a:solidFill>
                <a:latin typeface="Calibri"/>
              </a:rPr>
              <a:t> Próprio)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2423160"/>
            <a:ext cx="384048" cy="274320"/>
          </a:xfrm>
          <a:prstGeom prst="right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3703320" y="1874519"/>
            <a:ext cx="7909560" cy="1371600"/>
          </a:xfrm>
          <a:prstGeom prst="roundRect">
            <a:avLst/>
          </a:prstGeom>
          <a:solidFill>
            <a:srgbClr val="F4F9F9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3703320" y="1874519"/>
            <a:ext cx="790956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100" b="1" noProof="0" dirty="0" err="1">
                <a:solidFill>
                  <a:srgbClr val="FFFFFF"/>
                </a:solidFill>
                <a:latin typeface="Calibri"/>
              </a:rPr>
              <a:t>workflow</a:t>
            </a:r>
            <a:r>
              <a:rPr lang="pt-PT" sz="1100" b="1" noProof="0" dirty="0">
                <a:solidFill>
                  <a:srgbClr val="FFFFFF"/>
                </a:solidFill>
                <a:latin typeface="Calibri"/>
              </a:rPr>
              <a:t> 1 — </a:t>
            </a:r>
            <a:r>
              <a:rPr lang="pt-PT" sz="1100" b="1" noProof="0" dirty="0" err="1">
                <a:solidFill>
                  <a:srgbClr val="FFFFFF"/>
                </a:solidFill>
                <a:latin typeface="Calibri"/>
              </a:rPr>
              <a:t>database_construction</a:t>
            </a:r>
            <a:r>
              <a:rPr lang="pt-PT" sz="1100" b="1" noProof="0" dirty="0">
                <a:solidFill>
                  <a:srgbClr val="FFFFFF"/>
                </a:solidFill>
                <a:latin typeface="Calibri"/>
              </a:rPr>
              <a:t> (constrói os modelos)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2286000"/>
            <a:ext cx="22860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950" b="0" noProof="0" dirty="0">
                <a:solidFill>
                  <a:srgbClr val="1A2E35"/>
                </a:solidFill>
                <a:latin typeface="Calibri"/>
              </a:rPr>
              <a:t>CD-HIT</a:t>
            </a:r>
          </a:p>
          <a:p>
            <a:pPr algn="ctr"/>
            <a:r>
              <a:rPr lang="pt-PT" sz="950" b="0" noProof="0" dirty="0">
                <a:solidFill>
                  <a:srgbClr val="1A2E35"/>
                </a:solidFill>
                <a:latin typeface="Calibri"/>
              </a:rPr>
              <a:t>agrupa por similaridade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301336" y="2560320"/>
            <a:ext cx="274320" cy="274320"/>
          </a:xfrm>
          <a:prstGeom prst="right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6565392" y="2286000"/>
            <a:ext cx="21031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950" b="0" noProof="0" dirty="0">
                <a:solidFill>
                  <a:srgbClr val="1A2E35"/>
                </a:solidFill>
                <a:latin typeface="Calibri"/>
              </a:rPr>
              <a:t>T-COFFEE</a:t>
            </a:r>
          </a:p>
          <a:p>
            <a:pPr algn="ctr"/>
            <a:r>
              <a:rPr lang="pt-PT" sz="950" b="0" noProof="0" dirty="0">
                <a:solidFill>
                  <a:srgbClr val="1A2E35"/>
                </a:solidFill>
                <a:latin typeface="Calibri"/>
              </a:rPr>
              <a:t>alinha clusters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01099" y="2569463"/>
            <a:ext cx="274320" cy="274320"/>
          </a:xfrm>
          <a:prstGeom prst="right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2743200"/>
          </a:xfrm>
          <a:prstGeom prst="roundRect">
            <a:avLst/>
          </a:prstGeom>
          <a:solidFill>
            <a:srgbClr val="F4F9F9"/>
          </a:solidFill>
          <a:ln w="25400">
            <a:solidFill>
              <a:srgbClr val="0B3C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698480" cy="347472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100" b="1" noProof="0" dirty="0" err="1">
                <a:solidFill>
                  <a:srgbClr val="FFFFFF"/>
                </a:solidFill>
                <a:latin typeface="Calibri"/>
              </a:rPr>
              <a:t>workflow</a:t>
            </a:r>
            <a:r>
              <a:rPr lang="pt-PT" sz="1100" b="1" noProof="0" dirty="0">
                <a:solidFill>
                  <a:srgbClr val="FFFFFF"/>
                </a:solidFill>
                <a:latin typeface="Calibri"/>
              </a:rPr>
              <a:t> 2 — </a:t>
            </a:r>
            <a:r>
              <a:rPr lang="pt-PT" sz="1100" b="1" noProof="0" dirty="0" err="1">
                <a:solidFill>
                  <a:srgbClr val="FFFFFF"/>
                </a:solidFill>
                <a:latin typeface="Calibri"/>
              </a:rPr>
              <a:t>annotation</a:t>
            </a:r>
            <a:r>
              <a:rPr lang="pt-PT" sz="1100" b="1" noProof="0" dirty="0">
                <a:solidFill>
                  <a:srgbClr val="FFFFFF"/>
                </a:solidFill>
                <a:latin typeface="Calibri"/>
              </a:rPr>
              <a:t>  (procura as enzimas; </a:t>
            </a:r>
            <a:r>
              <a:rPr lang="pt-PT" sz="1100" b="1" dirty="0">
                <a:solidFill>
                  <a:srgbClr val="FFFFFF"/>
                </a:solidFill>
                <a:latin typeface="Calibri"/>
              </a:rPr>
              <a:t>não</a:t>
            </a:r>
            <a:r>
              <a:rPr lang="pt-PT" sz="1100" b="1" noProof="0" dirty="0">
                <a:solidFill>
                  <a:srgbClr val="FFFFFF"/>
                </a:solidFill>
                <a:latin typeface="Calibri"/>
              </a:rPr>
              <a:t> é “anotação</a:t>
            </a:r>
            <a:r>
              <a:rPr lang="pt-PT" sz="1100" b="1" dirty="0">
                <a:solidFill>
                  <a:srgbClr val="FFFFFF"/>
                </a:solidFill>
                <a:latin typeface="Calibri"/>
              </a:rPr>
              <a:t>”</a:t>
            </a:r>
            <a:r>
              <a:rPr lang="pt-PT" sz="1100" b="1" noProof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743200" y="4617720"/>
            <a:ext cx="292608" cy="274320"/>
          </a:xfrm>
          <a:prstGeom prst="rightArrow">
            <a:avLst/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1" name="Right Arrow 20"/>
          <p:cNvSpPr/>
          <p:nvPr/>
        </p:nvSpPr>
        <p:spPr>
          <a:xfrm>
            <a:off x="5079492" y="4590289"/>
            <a:ext cx="320040" cy="274320"/>
          </a:xfrm>
          <a:prstGeom prst="rightArrow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2" name="Rounded Rectangle 21"/>
          <p:cNvSpPr/>
          <p:nvPr/>
        </p:nvSpPr>
        <p:spPr>
          <a:xfrm>
            <a:off x="5440680" y="4224528"/>
            <a:ext cx="598932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5" name="Down Arrow 24"/>
          <p:cNvSpPr/>
          <p:nvPr/>
        </p:nvSpPr>
        <p:spPr>
          <a:xfrm>
            <a:off x="3909060" y="5223509"/>
            <a:ext cx="274320" cy="320040"/>
          </a:xfrm>
          <a:prstGeom prst="down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6" name="Rounded Rectangle 25"/>
          <p:cNvSpPr/>
          <p:nvPr/>
        </p:nvSpPr>
        <p:spPr>
          <a:xfrm>
            <a:off x="2674620" y="5646420"/>
            <a:ext cx="27432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900" b="0" noProof="0" dirty="0" err="1">
                <a:solidFill>
                  <a:srgbClr val="1A2E35"/>
                </a:solidFill>
                <a:latin typeface="Calibri"/>
              </a:rPr>
              <a:t>assembly</a:t>
            </a:r>
            <a:r>
              <a:rPr lang="pt-PT" sz="900" b="0" noProof="0" dirty="0">
                <a:solidFill>
                  <a:srgbClr val="1A2E35"/>
                </a:solidFill>
                <a:latin typeface="Calibri"/>
              </a:rPr>
              <a:t> + tradução</a:t>
            </a:r>
          </a:p>
          <a:p>
            <a:pPr algn="ctr"/>
            <a:r>
              <a:rPr lang="pt-PT" sz="900" b="0" noProof="0" dirty="0">
                <a:solidFill>
                  <a:srgbClr val="1A2E35"/>
                </a:solidFill>
                <a:latin typeface="Calibri"/>
              </a:rPr>
              <a:t>(</a:t>
            </a:r>
            <a:r>
              <a:rPr lang="pt-PT" sz="900" b="0" noProof="0" dirty="0" err="1">
                <a:solidFill>
                  <a:srgbClr val="1A2E35"/>
                </a:solidFill>
                <a:latin typeface="Calibri"/>
              </a:rPr>
              <a:t>reads</a:t>
            </a:r>
            <a:r>
              <a:rPr lang="pt-PT" sz="900" b="0" noProof="0" dirty="0">
                <a:solidFill>
                  <a:srgbClr val="1A2E35"/>
                </a:solidFill>
                <a:latin typeface="Calibri"/>
              </a:rPr>
              <a:t> → proteínas</a:t>
            </a:r>
          </a:p>
          <a:p>
            <a:pPr algn="ctr"/>
            <a:r>
              <a:rPr lang="pt-PT" sz="900" b="0" noProof="0" dirty="0">
                <a:solidFill>
                  <a:srgbClr val="1A2E35"/>
                </a:solidFill>
                <a:latin typeface="Calibri"/>
              </a:rPr>
              <a:t>completas = proteoma)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623560" y="5878853"/>
            <a:ext cx="292608" cy="274320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6035040" y="5669280"/>
            <a:ext cx="539496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28CA45C-1F06-2EEE-12A5-62A90DD2AE97}"/>
              </a:ext>
            </a:extLst>
          </p:cNvPr>
          <p:cNvSpPr txBox="1"/>
          <p:nvPr/>
        </p:nvSpPr>
        <p:spPr>
          <a:xfrm>
            <a:off x="5623560" y="4663440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800" b="0" noProof="0" dirty="0">
                <a:solidFill>
                  <a:srgbClr val="1A2E35"/>
                </a:solidFill>
                <a:latin typeface="Calibri"/>
              </a:rPr>
              <a:t> </a:t>
            </a:r>
            <a:r>
              <a:rPr lang="pt-PT" sz="950" b="0" noProof="0" dirty="0">
                <a:solidFill>
                  <a:srgbClr val="1A2E35"/>
                </a:solidFill>
                <a:latin typeface="Calibri"/>
              </a:rPr>
              <a:t>KMA mapeia os </a:t>
            </a:r>
            <a:r>
              <a:rPr lang="pt-PT" sz="950" b="0" noProof="0" dirty="0" err="1">
                <a:solidFill>
                  <a:srgbClr val="1A2E35"/>
                </a:solidFill>
                <a:latin typeface="Calibri"/>
              </a:rPr>
              <a:t>reads</a:t>
            </a:r>
            <a:r>
              <a:rPr lang="pt-PT" sz="950" b="0" noProof="0" dirty="0">
                <a:solidFill>
                  <a:srgbClr val="1A2E35"/>
                </a:solidFill>
                <a:latin typeface="Calibri"/>
              </a:rPr>
              <a:t> contra as sequências </a:t>
            </a:r>
            <a:r>
              <a:rPr lang="pt-PT" sz="950" b="0" noProof="0" dirty="0" err="1">
                <a:solidFill>
                  <a:srgbClr val="1A2E35"/>
                </a:solidFill>
                <a:latin typeface="Calibri"/>
              </a:rPr>
              <a:t>nucleotídicas</a:t>
            </a:r>
            <a:r>
              <a:rPr lang="pt-PT" sz="950" noProof="0" dirty="0">
                <a:solidFill>
                  <a:srgbClr val="1A2E35"/>
                </a:solidFill>
                <a:latin typeface="Calibri"/>
              </a:rPr>
              <a:t> obtidas das enzimas</a:t>
            </a:r>
            <a:endParaRPr lang="pt-PT" sz="950" b="0" noProof="0" dirty="0">
              <a:solidFill>
                <a:srgbClr val="1A2E35"/>
              </a:solidFill>
              <a:latin typeface="Calibri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ECADA42-047F-43BF-4EC7-78AC662FB788}"/>
              </a:ext>
            </a:extLst>
          </p:cNvPr>
          <p:cNvSpPr txBox="1"/>
          <p:nvPr/>
        </p:nvSpPr>
        <p:spPr>
          <a:xfrm>
            <a:off x="7212936" y="6116944"/>
            <a:ext cx="2984303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950" b="0" noProof="0" dirty="0">
                <a:solidFill>
                  <a:srgbClr val="1A2E35"/>
                </a:solidFill>
                <a:latin typeface="Calibri"/>
              </a:rPr>
              <a:t> HMMER procura homologia contra os modelos HMM</a:t>
            </a:r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02442E40-4353-CFDD-7059-C81B700BEAB7}"/>
              </a:ext>
            </a:extLst>
          </p:cNvPr>
          <p:cNvSpPr/>
          <p:nvPr/>
        </p:nvSpPr>
        <p:spPr>
          <a:xfrm>
            <a:off x="731520" y="4288537"/>
            <a:ext cx="1920240" cy="875210"/>
          </a:xfrm>
          <a:prstGeom prst="roundRect">
            <a:avLst>
              <a:gd name="adj" fmla="val 39751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050" b="1" noProof="0" dirty="0" err="1">
                <a:solidFill>
                  <a:schemeClr val="bg1"/>
                </a:solidFill>
              </a:rPr>
              <a:t>fetch</a:t>
            </a:r>
            <a:endParaRPr lang="pt-PT" sz="1050" b="1" noProof="0" dirty="0">
              <a:solidFill>
                <a:schemeClr val="bg1"/>
              </a:solidFill>
            </a:endParaRPr>
          </a:p>
          <a:p>
            <a:pPr algn="ctr"/>
            <a:r>
              <a:rPr lang="pt-PT" sz="1050" b="1" noProof="0" dirty="0">
                <a:solidFill>
                  <a:schemeClr val="bg1"/>
                </a:solidFill>
              </a:rPr>
              <a:t>descarrega SRA e converte  para FASTQ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640F16A3-6025-FC91-45C7-7FE2342FB2A7}"/>
              </a:ext>
            </a:extLst>
          </p:cNvPr>
          <p:cNvSpPr/>
          <p:nvPr/>
        </p:nvSpPr>
        <p:spPr>
          <a:xfrm>
            <a:off x="9189719" y="2282920"/>
            <a:ext cx="210312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950" noProof="0" dirty="0" err="1">
                <a:solidFill>
                  <a:srgbClr val="0B3C49"/>
                </a:solidFill>
              </a:rPr>
              <a:t>hmmbuild</a:t>
            </a:r>
            <a:endParaRPr lang="pt-PT" sz="950" noProof="0" dirty="0">
              <a:solidFill>
                <a:srgbClr val="0B3C49"/>
              </a:solidFill>
            </a:endParaRPr>
          </a:p>
          <a:p>
            <a:pPr algn="ctr"/>
            <a:r>
              <a:rPr lang="pt-PT" sz="950" noProof="0" dirty="0">
                <a:solidFill>
                  <a:srgbClr val="0B3C49"/>
                </a:solidFill>
              </a:rPr>
              <a:t>Constrói um </a:t>
            </a:r>
            <a:r>
              <a:rPr lang="pt-PT" sz="950" noProof="0" dirty="0" err="1">
                <a:solidFill>
                  <a:srgbClr val="0B3C49"/>
                </a:solidFill>
              </a:rPr>
              <a:t>dataset</a:t>
            </a:r>
            <a:r>
              <a:rPr lang="pt-PT" sz="950" noProof="0" dirty="0">
                <a:solidFill>
                  <a:srgbClr val="0B3C49"/>
                </a:solidFill>
              </a:rPr>
              <a:t> com os HMM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DB052F28-85AD-9C01-090F-DC6C575BE1FD}"/>
              </a:ext>
            </a:extLst>
          </p:cNvPr>
          <p:cNvSpPr/>
          <p:nvPr/>
        </p:nvSpPr>
        <p:spPr>
          <a:xfrm>
            <a:off x="3067532" y="4389119"/>
            <a:ext cx="1920240" cy="717804"/>
          </a:xfrm>
          <a:prstGeom prst="roundRect">
            <a:avLst>
              <a:gd name="adj" fmla="val 22336"/>
            </a:avLst>
          </a:prstGeom>
          <a:solidFill>
            <a:srgbClr val="FFFFFF"/>
          </a:solidFill>
          <a:ln w="1905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900" noProof="0" dirty="0" err="1">
                <a:solidFill>
                  <a:schemeClr val="tx1"/>
                </a:solidFill>
              </a:rPr>
              <a:t>Metagenoma</a:t>
            </a:r>
            <a:endParaRPr lang="pt-PT" sz="900" noProof="0" dirty="0">
              <a:solidFill>
                <a:schemeClr val="tx1"/>
              </a:solidFill>
            </a:endParaRPr>
          </a:p>
          <a:p>
            <a:pPr algn="ctr"/>
            <a:r>
              <a:rPr lang="pt-PT" sz="900" noProof="0" dirty="0">
                <a:solidFill>
                  <a:schemeClr val="tx1"/>
                </a:solidFill>
              </a:rPr>
              <a:t>(</a:t>
            </a:r>
            <a:r>
              <a:rPr lang="pt-PT" sz="900" noProof="0" dirty="0" err="1">
                <a:solidFill>
                  <a:schemeClr val="tx1"/>
                </a:solidFill>
              </a:rPr>
              <a:t>reads</a:t>
            </a:r>
            <a:r>
              <a:rPr lang="pt-PT" sz="900" noProof="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2AEFE62F-FA79-68D1-F1CE-DA6B950D2E28}"/>
              </a:ext>
            </a:extLst>
          </p:cNvPr>
          <p:cNvSpPr/>
          <p:nvPr/>
        </p:nvSpPr>
        <p:spPr>
          <a:xfrm>
            <a:off x="6035040" y="5659789"/>
            <a:ext cx="5413248" cy="3562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100" noProof="0" dirty="0">
                <a:solidFill>
                  <a:schemeClr val="bg1"/>
                </a:solidFill>
              </a:rPr>
              <a:t>Proteoma</a:t>
            </a: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08E39A55-27B0-FBE0-AF95-38E51E832FB6}"/>
              </a:ext>
            </a:extLst>
          </p:cNvPr>
          <p:cNvSpPr/>
          <p:nvPr/>
        </p:nvSpPr>
        <p:spPr>
          <a:xfrm>
            <a:off x="5440680" y="4226020"/>
            <a:ext cx="598932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pt-PT" sz="1100" noProof="0" dirty="0" err="1">
                <a:solidFill>
                  <a:schemeClr val="bg1"/>
                </a:solidFill>
              </a:rPr>
              <a:t>Reads</a:t>
            </a:r>
            <a:endParaRPr lang="pt-PT" sz="11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e referências utilizados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115863" y="2162965"/>
            <a:ext cx="5340883" cy="3067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pt-PT" sz="1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PMC10353409 — </a:t>
            </a:r>
            <a:r>
              <a:rPr lang="pt-PT" sz="1600" b="1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pt-PT" sz="1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PT" sz="1600" b="1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metagenómico</a:t>
            </a:r>
            <a:endParaRPr lang="pt-PT" sz="1600" noProof="0" dirty="0"/>
          </a:p>
          <a:p>
            <a:pPr lvl="1" indent="-228600">
              <a:spcAft>
                <a:spcPts val="600"/>
              </a:spcAft>
              <a:buSzPct val="100000"/>
              <a:buFontTx/>
              <a:buChar char="▪"/>
            </a:pP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pt-PT" sz="1400" noProof="0" dirty="0" err="1"/>
              <a:t>Metagenomic</a:t>
            </a:r>
            <a:r>
              <a:rPr lang="pt-PT" sz="1400" noProof="0" dirty="0"/>
              <a:t> </a:t>
            </a:r>
            <a:r>
              <a:rPr lang="pt-PT" sz="1400" noProof="0" dirty="0" err="1"/>
              <a:t>Sequencing</a:t>
            </a:r>
            <a:r>
              <a:rPr lang="pt-PT" sz="1400" noProof="0" dirty="0"/>
              <a:t> </a:t>
            </a:r>
            <a:r>
              <a:rPr lang="pt-PT" sz="1400" noProof="0" dirty="0" err="1"/>
              <a:t>of</a:t>
            </a:r>
            <a:r>
              <a:rPr lang="pt-PT" sz="1400" noProof="0" dirty="0"/>
              <a:t> </a:t>
            </a:r>
            <a:r>
              <a:rPr lang="pt-PT" sz="1400" noProof="0" dirty="0" err="1"/>
              <a:t>Two</a:t>
            </a:r>
            <a:r>
              <a:rPr lang="pt-PT" sz="1400" noProof="0" dirty="0"/>
              <a:t> </a:t>
            </a:r>
            <a:r>
              <a:rPr lang="pt-PT" sz="1400" noProof="0" dirty="0" err="1"/>
              <a:t>Cultures</a:t>
            </a:r>
            <a:r>
              <a:rPr lang="pt-PT" sz="1400" noProof="0" dirty="0"/>
              <a:t> </a:t>
            </a:r>
            <a:r>
              <a:rPr lang="pt-PT" sz="1400" noProof="0" dirty="0" err="1"/>
              <a:t>Grown</a:t>
            </a:r>
            <a:r>
              <a:rPr lang="pt-PT" sz="1400" noProof="0" dirty="0"/>
              <a:t> </a:t>
            </a:r>
            <a:r>
              <a:rPr lang="pt-PT" sz="1400" noProof="0" dirty="0" err="1"/>
              <a:t>on</a:t>
            </a:r>
            <a:r>
              <a:rPr lang="pt-PT" sz="1400" noProof="0" dirty="0"/>
              <a:t> </a:t>
            </a:r>
            <a:r>
              <a:rPr lang="pt-PT" sz="1400" noProof="0" dirty="0" err="1"/>
              <a:t>Chemically</a:t>
            </a:r>
            <a:r>
              <a:rPr lang="pt-PT" sz="1400" noProof="0" dirty="0"/>
              <a:t> </a:t>
            </a:r>
            <a:r>
              <a:rPr lang="pt-PT" sz="1400" noProof="0" dirty="0" err="1"/>
              <a:t>Deconstructed</a:t>
            </a:r>
            <a:r>
              <a:rPr lang="pt-PT" sz="1400" noProof="0" dirty="0"/>
              <a:t> </a:t>
            </a:r>
            <a:r>
              <a:rPr lang="pt-PT" sz="1400" noProof="0" dirty="0" err="1"/>
              <a:t>Plastic</a:t>
            </a:r>
            <a:r>
              <a:rPr lang="pt-PT" sz="1400" noProof="0" dirty="0"/>
              <a:t> </a:t>
            </a:r>
            <a:r>
              <a:rPr lang="pt-PT" sz="1400" noProof="0" dirty="0" err="1"/>
              <a:t>Products</a:t>
            </a: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</a:t>
            </a:r>
            <a:endParaRPr lang="pt-PT" sz="1600" noProof="0" dirty="0"/>
          </a:p>
          <a:p>
            <a:pPr lvl="1" indent="-228600">
              <a:spcAft>
                <a:spcPts val="600"/>
              </a:spcAft>
              <a:buSzPct val="100000"/>
              <a:buChar char="▪"/>
            </a:pP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pt-PT" sz="13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SRAs</a:t>
            </a: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t-PT" sz="13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paired-end</a:t>
            </a: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SRR22262629 e SRR22689345.</a:t>
            </a:r>
            <a:endParaRPr lang="pt-PT" sz="1600" noProof="0" dirty="0"/>
          </a:p>
          <a:p>
            <a:pPr lvl="1" indent="-228600">
              <a:spcAft>
                <a:spcPts val="600"/>
              </a:spcAft>
              <a:buSzPct val="100000"/>
              <a:buChar char="▪"/>
            </a:pP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= formato de dados do NCBI, é possível converter para FASTQ, ocupa menos espaço.</a:t>
            </a:r>
            <a:endParaRPr lang="pt-PT" sz="1600" b="1" noProof="0" dirty="0">
              <a:solidFill>
                <a:srgbClr val="1A2E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lvl="1">
              <a:spcAft>
                <a:spcPts val="600"/>
              </a:spcAft>
              <a:buSzPct val="100000"/>
            </a:pPr>
            <a:r>
              <a:rPr lang="pt-PT" sz="1600" b="1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PAZy</a:t>
            </a:r>
            <a:r>
              <a:rPr lang="pt-PT" sz="16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Base de referência</a:t>
            </a:r>
            <a:endParaRPr lang="pt-PT" sz="1600" noProof="0" dirty="0"/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das maiores bases com curadoria experimental de enzimas plástico.</a:t>
            </a:r>
            <a:endParaRPr lang="pt-PT" sz="1600" noProof="0" dirty="0"/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sz="13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entradas para PET, 312 com sequência proteica (8 sem sequência depositada).</a:t>
            </a:r>
            <a:endParaRPr lang="pt-PT" sz="1600" noProof="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6313CD1-A059-92D8-C235-E7FA4607C1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566" b="8483"/>
          <a:stretch>
            <a:fillRect/>
          </a:stretch>
        </p:blipFill>
        <p:spPr>
          <a:xfrm>
            <a:off x="5968180" y="1848467"/>
            <a:ext cx="6107957" cy="36966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dos clusters: tipos de enzimas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pt-PT" sz="13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864005"/>
              </p:ext>
            </p:extLst>
          </p:nvPr>
        </p:nvGraphicFramePr>
        <p:xfrm>
          <a:off x="640080" y="1920240"/>
          <a:ext cx="10972800" cy="34564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Enzima</a:t>
                      </a:r>
                      <a:endParaRPr lang="pt-PT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</a:t>
                      </a:r>
                      <a:endParaRPr lang="pt-PT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Reação catalisada</a:t>
                      </a:r>
                      <a:endParaRPr lang="pt-PT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 típica</a:t>
                      </a:r>
                      <a:endParaRPr lang="pt-PT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3.1.1.101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→ MHET (hidrólise das ligações éster)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sakaiensis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Actinomycetota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Pseudomonadota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MHETase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3.1.1.102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MHET → TPA + etilenoglicol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Bactérias com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PETase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mesmo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operão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Cutinase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3.1.1.74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Cutina/PET → ácidos gordos ou MHET + TPA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Fungos (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Fusarium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Humicola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);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Thermobifida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LCC-</a:t>
                      </a: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</a:t>
                      </a:r>
                      <a:r>
                        <a:rPr lang="pt-PT" sz="950" b="1" noProof="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cutinase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3.1.1.74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cristalino → MHET + TPA + EG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Metagenoma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composto foliar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3.1.1.3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Triacilglicerol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AG; PET (marginal)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Bactérias e fungos diversos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Carboxylesterase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3.1.1.1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Éster carboxílico → álcool + ácido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Ubíqua (B.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subtilis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TfH</a:t>
                      </a:r>
                      <a:r>
                        <a:rPr lang="pt-PT" sz="950" b="1" noProof="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BTA </a:t>
                      </a: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3.1.1.74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 / PBAT → MHET + TPA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Thermobifida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spp.; S.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viridis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b="1" noProof="0" dirty="0" err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BHETase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3.1.1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BHET → 2× MHET (intermédio)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subtilis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pt-PT" sz="950" noProof="0" dirty="0" err="1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esterases</a:t>
                      </a:r>
                      <a:r>
                        <a:rPr lang="pt-PT" sz="950" noProof="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promíscuas</a:t>
                      </a:r>
                      <a:endParaRPr lang="pt-PT" sz="9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5579930B-379E-20C6-AC69-317946BA2DB2}"/>
              </a:ext>
            </a:extLst>
          </p:cNvPr>
          <p:cNvSpPr txBox="1"/>
          <p:nvPr/>
        </p:nvSpPr>
        <p:spPr>
          <a:xfrm>
            <a:off x="867747" y="5775649"/>
            <a:ext cx="9545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noProof="0" dirty="0"/>
              <a:t>Fonte: BRENDA (EC e reações) e </a:t>
            </a:r>
            <a:r>
              <a:rPr lang="pt-PT" sz="1400" noProof="0" dirty="0" err="1"/>
              <a:t>PAZy</a:t>
            </a:r>
            <a:r>
              <a:rPr lang="pt-PT" sz="1400" noProof="0" dirty="0"/>
              <a:t> (Origem)</a:t>
            </a:r>
            <a:endParaRPr lang="pt-PT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sz="2600" b="1" noProof="0" dirty="0">
                <a:solidFill>
                  <a:srgbClr val="0B3C49"/>
                </a:solidFill>
                <a:latin typeface="Trebuchet MS"/>
              </a:rPr>
              <a:t>As enzimas no nosso </a:t>
            </a:r>
            <a:r>
              <a:rPr lang="pt-PT" sz="2600" b="1" noProof="0" dirty="0" err="1">
                <a:solidFill>
                  <a:srgbClr val="0B3C49"/>
                </a:solidFill>
                <a:latin typeface="Trebuchet MS"/>
              </a:rPr>
              <a:t>dataset</a:t>
            </a:r>
            <a:r>
              <a:rPr lang="pt-PT" sz="2600" b="1" noProof="0" dirty="0">
                <a:solidFill>
                  <a:srgbClr val="0B3C49"/>
                </a:solidFill>
                <a:latin typeface="Trebuchet MS"/>
              </a:rPr>
              <a:t> (</a:t>
            </a:r>
            <a:r>
              <a:rPr lang="pt-PT" sz="2600" b="1" noProof="0" dirty="0" err="1">
                <a:solidFill>
                  <a:srgbClr val="0B3C49"/>
                </a:solidFill>
                <a:latin typeface="Trebuchet MS"/>
              </a:rPr>
              <a:t>PAZy</a:t>
            </a:r>
            <a:r>
              <a:rPr lang="pt-PT" sz="2600" b="1" noProof="0" dirty="0">
                <a:solidFill>
                  <a:srgbClr val="0B3C49"/>
                </a:solidFill>
                <a:latin typeface="Trebuchet MS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pt-PT" sz="1400" b="1" noProof="0" dirty="0">
                <a:solidFill>
                  <a:srgbClr val="028090"/>
                </a:solidFill>
              </a:rPr>
              <a:t>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88720"/>
            <a:ext cx="1051560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39" y="1232245"/>
            <a:ext cx="9627747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lang="pt-PT" sz="1300" b="0" noProof="0" dirty="0">
                <a:solidFill>
                  <a:srgbClr val="1A2E35"/>
                </a:solidFill>
                <a:latin typeface="Calibri"/>
              </a:rPr>
              <a:t>Analisei as 320 enzimas obtidas do </a:t>
            </a:r>
            <a:r>
              <a:rPr lang="pt-PT" sz="1300" b="0" noProof="0" dirty="0" err="1">
                <a:solidFill>
                  <a:srgbClr val="1A2E35"/>
                </a:solidFill>
                <a:latin typeface="Calibri"/>
              </a:rPr>
              <a:t>PAZy</a:t>
            </a:r>
            <a:r>
              <a:rPr lang="pt-PT" sz="1300" b="0" noProof="0" dirty="0">
                <a:solidFill>
                  <a:srgbClr val="1A2E3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  <a:buChar char="•"/>
            </a:pPr>
            <a:r>
              <a:rPr lang="pt-PT" sz="1300" b="0" noProof="0" dirty="0">
                <a:solidFill>
                  <a:srgbClr val="1A2E35"/>
                </a:solidFill>
                <a:latin typeface="Calibri"/>
              </a:rPr>
              <a:t>Apesar de todas degradarem PET, pertencem a classes diferentes.</a:t>
            </a:r>
          </a:p>
          <a:p>
            <a:pPr>
              <a:spcAft>
                <a:spcPts val="800"/>
              </a:spcAft>
              <a:buChar char="•"/>
            </a:pPr>
            <a:r>
              <a:rPr lang="pt-PT" sz="1300" noProof="0" dirty="0">
                <a:solidFill>
                  <a:srgbClr val="1A2E35"/>
                </a:solidFill>
                <a:latin typeface="Calibri"/>
              </a:rPr>
              <a:t>Podemos ver que a distribuição a nível de Filo demonstra que </a:t>
            </a:r>
            <a:r>
              <a:rPr lang="pt-PT" sz="1300" noProof="0" dirty="0" err="1">
                <a:solidFill>
                  <a:srgbClr val="1A2E35"/>
                </a:solidFill>
                <a:latin typeface="Calibri"/>
              </a:rPr>
              <a:t>Actinomycetota</a:t>
            </a:r>
            <a:r>
              <a:rPr lang="pt-PT" sz="1300" noProof="0" dirty="0">
                <a:solidFill>
                  <a:srgbClr val="1A2E35"/>
                </a:solidFill>
                <a:latin typeface="Calibri"/>
              </a:rPr>
              <a:t> é muito comum neste </a:t>
            </a:r>
            <a:r>
              <a:rPr lang="pt-PT" sz="1300" noProof="0" dirty="0" err="1">
                <a:solidFill>
                  <a:srgbClr val="1A2E35"/>
                </a:solidFill>
                <a:latin typeface="Calibri"/>
              </a:rPr>
              <a:t>dataset</a:t>
            </a:r>
            <a:r>
              <a:rPr lang="pt-PT" sz="1300" noProof="0" dirty="0">
                <a:solidFill>
                  <a:srgbClr val="1A2E35"/>
                </a:solidFill>
                <a:latin typeface="Calibri"/>
              </a:rPr>
              <a:t>.</a:t>
            </a:r>
            <a:endParaRPr lang="pt-PT" sz="1300" b="0" noProof="0" dirty="0">
              <a:solidFill>
                <a:srgbClr val="1A2E35"/>
              </a:solidFill>
              <a:latin typeface="Calibri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651502"/>
              </p:ext>
            </p:extLst>
          </p:nvPr>
        </p:nvGraphicFramePr>
        <p:xfrm>
          <a:off x="5806440" y="2284262"/>
          <a:ext cx="56692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EF476EDE-D47B-89A9-D689-08CF05EAAC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3866728"/>
              </p:ext>
            </p:extLst>
          </p:nvPr>
        </p:nvGraphicFramePr>
        <p:xfrm>
          <a:off x="487680" y="2375702"/>
          <a:ext cx="4572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PT" sz="2600" b="1" noProof="0" dirty="0">
                <a:solidFill>
                  <a:srgbClr val="0B3C49"/>
                </a:solidFill>
                <a:latin typeface="Trebuchet MS"/>
              </a:rPr>
              <a:t>Construção da base HMM: os 146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pt-PT" sz="1400" b="1" noProof="0" dirty="0">
                <a:solidFill>
                  <a:srgbClr val="028090"/>
                </a:solidFill>
              </a:rPr>
              <a:t>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88720"/>
            <a:ext cx="10515600" cy="0"/>
          </a:xfrm>
          <a:prstGeom prst="line">
            <a:avLst/>
          </a:prstGeom>
          <a:ln w="25400">
            <a:solidFill>
              <a:srgbClr val="00A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507010"/>
            <a:ext cx="5943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Char char="•"/>
            </a:pPr>
            <a:r>
              <a:rPr lang="pt-PT" sz="1350" b="0" noProof="0" dirty="0">
                <a:solidFill>
                  <a:srgbClr val="1A2E35"/>
                </a:solidFill>
                <a:latin typeface="Calibri"/>
              </a:rPr>
              <a:t>As 312 sequências proteicas do </a:t>
            </a:r>
            <a:r>
              <a:rPr lang="pt-PT" sz="1350" b="0" noProof="0" dirty="0" err="1">
                <a:solidFill>
                  <a:srgbClr val="1A2E35"/>
                </a:solidFill>
                <a:latin typeface="Calibri"/>
              </a:rPr>
              <a:t>PAZy</a:t>
            </a:r>
            <a:r>
              <a:rPr lang="pt-PT" sz="1350" b="0" noProof="0" dirty="0">
                <a:solidFill>
                  <a:srgbClr val="1A2E35"/>
                </a:solidFill>
                <a:latin typeface="Calibri"/>
              </a:rPr>
              <a:t> entram no </a:t>
            </a:r>
            <a:r>
              <a:rPr lang="pt-PT" sz="1350" b="0" noProof="0" dirty="0" err="1">
                <a:solidFill>
                  <a:srgbClr val="1A2E35"/>
                </a:solidFill>
                <a:latin typeface="Calibri"/>
              </a:rPr>
              <a:t>workflow</a:t>
            </a:r>
            <a:r>
              <a:rPr lang="pt-PT" sz="1350" b="0" noProof="0" dirty="0">
                <a:solidFill>
                  <a:srgbClr val="1A2E35"/>
                </a:solidFill>
                <a:latin typeface="Calibri"/>
              </a:rPr>
              <a:t> </a:t>
            </a:r>
            <a:r>
              <a:rPr lang="pt-PT" sz="1350" b="0" noProof="0" dirty="0" err="1">
                <a:solidFill>
                  <a:srgbClr val="1A2E35"/>
                </a:solidFill>
                <a:latin typeface="Calibri"/>
              </a:rPr>
              <a:t>database_construction</a:t>
            </a:r>
            <a:r>
              <a:rPr lang="pt-PT" sz="1350" b="0" noProof="0" dirty="0">
                <a:solidFill>
                  <a:srgbClr val="1A2E3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  <a:buChar char="•"/>
            </a:pPr>
            <a:r>
              <a:rPr lang="pt-PT" sz="1350" b="0" noProof="0" dirty="0">
                <a:solidFill>
                  <a:srgbClr val="1A2E35"/>
                </a:solidFill>
                <a:latin typeface="Calibri"/>
              </a:rPr>
              <a:t>CD-HIT agrupa por similaridade → T-COFFEE alinha → </a:t>
            </a:r>
            <a:r>
              <a:rPr lang="pt-PT" sz="1350" b="0" noProof="0" dirty="0" err="1">
                <a:solidFill>
                  <a:srgbClr val="1A2E35"/>
                </a:solidFill>
                <a:latin typeface="Calibri"/>
              </a:rPr>
              <a:t>hmmbuild</a:t>
            </a:r>
            <a:r>
              <a:rPr lang="pt-PT" sz="1350" b="0" noProof="0" dirty="0">
                <a:solidFill>
                  <a:srgbClr val="1A2E35"/>
                </a:solidFill>
                <a:latin typeface="Calibri"/>
              </a:rPr>
              <a:t> cria 1 perfil HMM por cluster.</a:t>
            </a:r>
          </a:p>
          <a:p>
            <a:pPr>
              <a:spcAft>
                <a:spcPts val="900"/>
              </a:spcAft>
              <a:buChar char="•"/>
            </a:pPr>
            <a:r>
              <a:rPr lang="pt-PT" sz="1350" noProof="0" dirty="0">
                <a:latin typeface="Calibri"/>
              </a:rPr>
              <a:t>Resultado: 146 clusters que são usados para procurar homólogos nos </a:t>
            </a:r>
            <a:r>
              <a:rPr lang="pt-PT" sz="1350" noProof="0" dirty="0" err="1">
                <a:latin typeface="Calibri"/>
              </a:rPr>
              <a:t>metagenomas</a:t>
            </a:r>
            <a:r>
              <a:rPr lang="pt-PT" sz="1350" noProof="0" dirty="0"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PT" sz="1300" b="1" noProof="0" dirty="0">
                <a:solidFill>
                  <a:srgbClr val="0B3C49"/>
                </a:solidFill>
                <a:latin typeface="Calibri"/>
              </a:rPr>
              <a:t>Top 5 clusters por tamanho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852637"/>
              </p:ext>
            </p:extLst>
          </p:nvPr>
        </p:nvGraphicFramePr>
        <p:xfrm>
          <a:off x="6858000" y="1920240"/>
          <a:ext cx="4846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PT" sz="10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Membros representativos</a:t>
                      </a:r>
                    </a:p>
                  </a:txBody>
                  <a:tcPr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02809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1A2E35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1628, 1611, 1625… (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Actinomycetota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 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PETases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02809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1A2E3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BTA-1, Tfu_0883… (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Thermobifida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 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cutinases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02809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1A2E3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1507, 1522, ESM082… (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Actinomycetota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 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PETases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02809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1A2E3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DP043, ESM060… (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Actinomycetota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 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PETases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02809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900" b="1" noProof="0" dirty="0">
                          <a:solidFill>
                            <a:srgbClr val="1A2E3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PpPETase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, jmPE13… (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Pseudomonadota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 </a:t>
                      </a:r>
                      <a:r>
                        <a:rPr lang="pt-PT" sz="900" b="0" noProof="0" dirty="0" err="1">
                          <a:solidFill>
                            <a:srgbClr val="1A2E35"/>
                          </a:solidFill>
                          <a:latin typeface="Calibri"/>
                        </a:rPr>
                        <a:t>PETases</a:t>
                      </a:r>
                      <a:r>
                        <a:rPr lang="pt-PT" sz="900" b="0" noProof="0" dirty="0">
                          <a:solidFill>
                            <a:srgbClr val="1A2E35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Resultados: teste da </a:t>
            </a:r>
            <a:r>
              <a:rPr lang="pt-PT" sz="2600" b="1" noProof="0" dirty="0" err="1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annotation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703513" y="1991052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testar a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escolhi 51 das 312 enzimas (aleatório) e obtive as sequências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nucleotídicas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através da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FASTA de referência.</a:t>
            </a:r>
            <a:endParaRPr lang="pt-PT" sz="1400" noProof="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 a </a:t>
            </a:r>
            <a:r>
              <a:rPr lang="pt-PT" sz="1400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r>
              <a:rPr lang="pt-PT" sz="1400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SRA contra este FASTA (KMA).</a:t>
            </a:r>
            <a:endParaRPr lang="pt-PT" sz="1400" noProof="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pt-PT" sz="14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Só o SRR22262629 teve resultados, com match em apenas 4/51 enzimas:</a:t>
            </a:r>
            <a:endParaRPr lang="pt-PT" sz="14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878186"/>
              </p:ext>
            </p:extLst>
          </p:nvPr>
        </p:nvGraphicFramePr>
        <p:xfrm>
          <a:off x="640079" y="3452869"/>
          <a:ext cx="5807374" cy="2635068"/>
        </p:xfrm>
        <a:graphic>
          <a:graphicData uri="http://schemas.openxmlformats.org/drawingml/2006/table">
            <a:tbl>
              <a:tblPr lastCol="1"/>
              <a:tblGrid>
                <a:gridCol w="2081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917">
                  <a:extLst>
                    <a:ext uri="{9D8B030D-6E8A-4147-A177-3AD203B41FA5}">
                      <a16:colId xmlns:a16="http://schemas.microsoft.com/office/drawing/2014/main" val="3681195826"/>
                    </a:ext>
                  </a:extLst>
                </a:gridCol>
                <a:gridCol w="851917">
                  <a:extLst>
                    <a:ext uri="{9D8B030D-6E8A-4147-A177-3AD203B41FA5}">
                      <a16:colId xmlns:a16="http://schemas.microsoft.com/office/drawing/2014/main" val="2665654519"/>
                    </a:ext>
                  </a:extLst>
                </a:gridCol>
              </a:tblGrid>
              <a:tr h="5203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>
                          <a:solidFill>
                            <a:srgbClr val="FFFFFF"/>
                          </a:solidFill>
                        </a:rPr>
                        <a:t>Enzima</a:t>
                      </a:r>
                      <a:endParaRPr lang="pt-PT" sz="110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 err="1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pt-PT" sz="110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b="1" noProof="0" dirty="0" err="1">
                          <a:solidFill>
                            <a:srgbClr val="FFFFFF"/>
                          </a:solidFill>
                        </a:rPr>
                        <a:t>Identity</a:t>
                      </a:r>
                      <a:endParaRPr lang="pt-PT" sz="110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noProof="0" dirty="0" err="1">
                          <a:solidFill>
                            <a:schemeClr val="bg1"/>
                          </a:solidFill>
                        </a:rPr>
                        <a:t>UniProt</a:t>
                      </a:r>
                      <a:r>
                        <a:rPr lang="pt-PT" sz="1100" noProof="0" dirty="0">
                          <a:solidFill>
                            <a:schemeClr val="bg1"/>
                          </a:solidFill>
                        </a:rPr>
                        <a:t> ID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100" noProof="0" dirty="0" err="1">
                          <a:solidFill>
                            <a:schemeClr val="bg1"/>
                          </a:solidFill>
                        </a:rPr>
                        <a:t>Annotation</a:t>
                      </a:r>
                      <a:r>
                        <a:rPr lang="pt-PT" sz="1100" noProof="0" dirty="0">
                          <a:solidFill>
                            <a:schemeClr val="bg1"/>
                          </a:solidFill>
                        </a:rPr>
                        <a:t> score (</a:t>
                      </a:r>
                      <a:r>
                        <a:rPr lang="pt-PT" sz="1100" noProof="0" dirty="0" err="1">
                          <a:solidFill>
                            <a:schemeClr val="bg1"/>
                          </a:solidFill>
                        </a:rPr>
                        <a:t>UniProt</a:t>
                      </a:r>
                      <a:r>
                        <a:rPr lang="pt-PT" sz="1100" noProof="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050" noProof="0" dirty="0">
                          <a:solidFill>
                            <a:srgbClr val="000000"/>
                          </a:solidFill>
                        </a:rPr>
                        <a:t>Cut190 (S. </a:t>
                      </a:r>
                      <a:r>
                        <a:rPr lang="pt-PT" sz="1050" noProof="0" dirty="0" err="1">
                          <a:solidFill>
                            <a:srgbClr val="000000"/>
                          </a:solidFill>
                        </a:rPr>
                        <a:t>viridis</a:t>
                      </a:r>
                      <a:r>
                        <a:rPr lang="pt-PT" sz="1050" noProof="0" dirty="0">
                          <a:solidFill>
                            <a:srgbClr val="000000"/>
                          </a:solidFill>
                        </a:rPr>
                        <a:t>) - </a:t>
                      </a:r>
                      <a:r>
                        <a:rPr lang="pt-PT" sz="1050" noProof="0" dirty="0" err="1">
                          <a:solidFill>
                            <a:srgbClr val="000000"/>
                          </a:solidFill>
                        </a:rPr>
                        <a:t>Cutinase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chemeClr val="tx1"/>
                          </a:solidFill>
                        </a:rPr>
                        <a:t>2.84%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chemeClr val="tx1"/>
                          </a:solidFill>
                        </a:rPr>
                        <a:t>2.62%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W0TJ64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1/5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050" noProof="0" dirty="0">
                          <a:solidFill>
                            <a:srgbClr val="000000"/>
                          </a:solidFill>
                        </a:rPr>
                        <a:t>Est119 (T. alba) - </a:t>
                      </a:r>
                      <a:r>
                        <a:rPr lang="pt-PT" sz="1050" noProof="0" dirty="0" err="1">
                          <a:solidFill>
                            <a:srgbClr val="000000"/>
                          </a:solidFill>
                        </a:rPr>
                        <a:t>Cutinase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chemeClr val="tx1"/>
                          </a:solidFill>
                        </a:rPr>
                        <a:t>4.10%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chemeClr val="tx1"/>
                          </a:solidFill>
                        </a:rPr>
                        <a:t>3.21%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F7IX06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5/5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050" noProof="0" dirty="0">
                          <a:solidFill>
                            <a:srgbClr val="1A2E35"/>
                          </a:solidFill>
                          <a:latin typeface="+mn-lt"/>
                        </a:rPr>
                        <a:t>ESM058 (P. </a:t>
                      </a:r>
                      <a:r>
                        <a:rPr lang="pt-PT" sz="1050" noProof="0" dirty="0" err="1">
                          <a:solidFill>
                            <a:srgbClr val="1A2E35"/>
                          </a:solidFill>
                          <a:latin typeface="+mn-lt"/>
                        </a:rPr>
                        <a:t>houttuyneae</a:t>
                      </a:r>
                      <a:r>
                        <a:rPr lang="pt-PT" sz="1050" noProof="0" dirty="0">
                          <a:solidFill>
                            <a:srgbClr val="1A2E35"/>
                          </a:solidFill>
                          <a:latin typeface="+mn-lt"/>
                        </a:rPr>
                        <a:t>) - </a:t>
                      </a:r>
                      <a:r>
                        <a:rPr lang="pt-PT" sz="1050" noProof="0" dirty="0" err="1">
                          <a:solidFill>
                            <a:srgbClr val="1A2E35"/>
                          </a:solidFill>
                          <a:latin typeface="+mn-lt"/>
                        </a:rPr>
                        <a:t>Lipase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1.41%</a:t>
                      </a:r>
                      <a:endParaRPr lang="pt-PT" sz="105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1.41%</a:t>
                      </a:r>
                      <a:endParaRPr lang="pt-PT" sz="105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rgbClr val="1A2E35"/>
                          </a:solidFill>
                          <a:latin typeface="+mn-lt"/>
                        </a:rPr>
                        <a:t>A0A6V8KDL4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1/5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802704"/>
                  </a:ext>
                </a:extLst>
              </a:tr>
              <a:tr h="520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PT" sz="1050" noProof="0" dirty="0" err="1">
                          <a:solidFill>
                            <a:srgbClr val="1A2E35"/>
                          </a:solidFill>
                          <a:latin typeface="+mn-lt"/>
                        </a:rPr>
                        <a:t>Thh_Est</a:t>
                      </a:r>
                      <a:r>
                        <a:rPr lang="pt-PT" sz="1050" noProof="0" dirty="0">
                          <a:solidFill>
                            <a:srgbClr val="1A2E35"/>
                          </a:solidFill>
                          <a:latin typeface="+mn-lt"/>
                        </a:rPr>
                        <a:t> (T. </a:t>
                      </a:r>
                      <a:r>
                        <a:rPr lang="pt-PT" sz="1050" noProof="0" dirty="0" err="1">
                          <a:solidFill>
                            <a:srgbClr val="1A2E35"/>
                          </a:solidFill>
                          <a:latin typeface="+mn-lt"/>
                        </a:rPr>
                        <a:t>halotolerans</a:t>
                      </a:r>
                      <a:r>
                        <a:rPr lang="pt-PT" sz="1050" noProof="0" dirty="0">
                          <a:solidFill>
                            <a:srgbClr val="1A2E35"/>
                          </a:solidFill>
                          <a:latin typeface="+mn-lt"/>
                        </a:rPr>
                        <a:t>) - </a:t>
                      </a:r>
                      <a:r>
                        <a:rPr lang="pt-PT" sz="1050" noProof="0" dirty="0" err="1">
                          <a:solidFill>
                            <a:srgbClr val="1A2E35"/>
                          </a:solidFill>
                          <a:latin typeface="+mn-lt"/>
                        </a:rPr>
                        <a:t>PETase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4.56%</a:t>
                      </a:r>
                      <a:endParaRPr lang="pt-PT" sz="105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3.68%</a:t>
                      </a:r>
                      <a:endParaRPr lang="pt-PT" sz="105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>
                          <a:solidFill>
                            <a:srgbClr val="1A2E35"/>
                          </a:solidFill>
                          <a:latin typeface="+mn-lt"/>
                        </a:rPr>
                        <a:t>H6WX58</a:t>
                      </a:r>
                      <a:endParaRPr lang="pt-PT" sz="1050" noProof="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PT" sz="1050" noProof="0" dirty="0"/>
                        <a:t>2/5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13769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76718" y="1429583"/>
            <a:ext cx="3586517" cy="1826080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8" name="Text 5"/>
          <p:cNvSpPr/>
          <p:nvPr/>
        </p:nvSpPr>
        <p:spPr>
          <a:xfrm>
            <a:off x="7528560" y="1479769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14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Interpretação</a:t>
            </a:r>
            <a:endParaRPr lang="pt-PT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7544531" y="1895715"/>
            <a:ext cx="3824509" cy="1653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Cobertura &lt;5% e identidade &lt;4% </a:t>
            </a:r>
            <a:endParaRPr lang="pt-PT" sz="1400" noProof="0" dirty="0"/>
          </a:p>
          <a:p>
            <a:pPr marL="0" indent="0">
              <a:buNone/>
            </a:pP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Provável explicação: </a:t>
            </a:r>
            <a:endParaRPr lang="pt-PT" sz="1400" noProof="0" dirty="0"/>
          </a:p>
          <a:p>
            <a:pPr marL="0" indent="0">
              <a:buNone/>
            </a:pP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Utilização de apenas 51/312 enzimas.</a:t>
            </a:r>
            <a:b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</a:br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Os SRA do artigo não eram os ideais.</a:t>
            </a:r>
          </a:p>
          <a:p>
            <a:r>
              <a:rPr lang="pt-PT" sz="1400" noProof="0" dirty="0">
                <a:solidFill>
                  <a:srgbClr val="1A2E35"/>
                </a:solidFill>
                <a:ea typeface="Calibri" pitchFamily="34" charset="-122"/>
                <a:cs typeface="Calibri" pitchFamily="34" charset="-120"/>
              </a:rPr>
              <a:t>Falsos positivos que será necessário analisar.</a:t>
            </a:r>
          </a:p>
          <a:p>
            <a:pPr marL="0" indent="0">
              <a:buNone/>
            </a:pPr>
            <a:endParaRPr lang="pt-PT" sz="1400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2E2C611-90AD-DCC7-C28C-7C1DCD2A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0" t="15852" r="5190" b="6928"/>
          <a:stretch>
            <a:fillRect/>
          </a:stretch>
        </p:blipFill>
        <p:spPr>
          <a:xfrm>
            <a:off x="7138219" y="3733164"/>
            <a:ext cx="2213557" cy="1103626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01B520D-970D-751F-8F3D-7CF5F4E35B1A}"/>
              </a:ext>
            </a:extLst>
          </p:cNvPr>
          <p:cNvSpPr txBox="1"/>
          <p:nvPr/>
        </p:nvSpPr>
        <p:spPr>
          <a:xfrm>
            <a:off x="6951541" y="4842382"/>
            <a:ext cx="2586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400" noProof="0" dirty="0"/>
              <a:t>Modelo 3D - Cut190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CEB3DFE-5ABC-3F67-0939-B250C707CCD9}"/>
              </a:ext>
            </a:extLst>
          </p:cNvPr>
          <p:cNvSpPr txBox="1"/>
          <p:nvPr/>
        </p:nvSpPr>
        <p:spPr>
          <a:xfrm>
            <a:off x="9635737" y="4834824"/>
            <a:ext cx="24155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400" noProof="0" dirty="0"/>
              <a:t>Modelo 3D - Est119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88237EC-276C-0A7B-3CC7-BD27818BF1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49" b="6427"/>
          <a:stretch>
            <a:fillRect/>
          </a:stretch>
        </p:blipFill>
        <p:spPr>
          <a:xfrm>
            <a:off x="9635737" y="3733164"/>
            <a:ext cx="2160023" cy="110921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7380FD7-F595-7EF2-85E4-9B99FCFF9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4399" y="5109145"/>
            <a:ext cx="1637522" cy="97879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61616CA-E367-399F-88F9-1551FC96F131}"/>
              </a:ext>
            </a:extLst>
          </p:cNvPr>
          <p:cNvSpPr txBox="1"/>
          <p:nvPr/>
        </p:nvSpPr>
        <p:spPr>
          <a:xfrm>
            <a:off x="9693911" y="6257263"/>
            <a:ext cx="2078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400" noProof="0" dirty="0">
                <a:solidFill>
                  <a:srgbClr val="1A2E35"/>
                </a:solidFill>
              </a:rPr>
              <a:t>ESM058 - Modelo 3D</a:t>
            </a:r>
            <a:endParaRPr lang="pt-PT" sz="1400" noProof="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7FA6371-560D-7202-DDCA-4EB16F120A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2596" y="5123928"/>
            <a:ext cx="1292433" cy="1090704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0FBD99EB-E0FF-5C21-F68F-0FBCCAE29F03}"/>
              </a:ext>
            </a:extLst>
          </p:cNvPr>
          <p:cNvSpPr txBox="1"/>
          <p:nvPr/>
        </p:nvSpPr>
        <p:spPr>
          <a:xfrm>
            <a:off x="6951541" y="6257263"/>
            <a:ext cx="21826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400" noProof="0" dirty="0" err="1">
                <a:solidFill>
                  <a:srgbClr val="1A2E35"/>
                </a:solidFill>
                <a:latin typeface="+mn-lt"/>
              </a:rPr>
              <a:t>Thh_Est</a:t>
            </a:r>
            <a:r>
              <a:rPr lang="pt-PT" sz="1400" noProof="0" dirty="0">
                <a:solidFill>
                  <a:srgbClr val="1A2E35"/>
                </a:solidFill>
              </a:rPr>
              <a:t> – Modelo 3D</a:t>
            </a:r>
            <a:r>
              <a:rPr lang="pt-PT" sz="1400" noProof="0" dirty="0">
                <a:solidFill>
                  <a:srgbClr val="1A2E35"/>
                </a:solidFill>
                <a:latin typeface="+mn-lt"/>
              </a:rPr>
              <a:t> </a:t>
            </a:r>
            <a:endParaRPr lang="pt-PT" sz="14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passos</a:t>
            </a:r>
            <a:endParaRPr lang="pt-PT" sz="2600" noProof="0" dirty="0"/>
          </a:p>
        </p:txBody>
      </p:sp>
      <p:sp>
        <p:nvSpPr>
          <p:cNvPr id="3" name="Text 1"/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PT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2590508"/>
            <a:ext cx="11247120" cy="2384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M-</a:t>
            </a:r>
            <a:r>
              <a:rPr lang="pt-PT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têm potencial e acredito que seja uma ferramenta que vá ser muito útil mas vou ter que:</a:t>
            </a:r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 </a:t>
            </a:r>
            <a:r>
              <a:rPr lang="pt-PT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312 enzimas (não só 51) sobre ambos os </a:t>
            </a:r>
            <a:r>
              <a:rPr lang="pt-PT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SRAs.</a:t>
            </a:r>
            <a:endParaRPr lang="pt-PT" noProof="0" dirty="0"/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resultados para procurar falsos positivos.</a:t>
            </a:r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a analise dos resultados e testar com mais </a:t>
            </a:r>
            <a:r>
              <a:rPr lang="pt-PT" noProof="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outros tipos de plásticos além do PET.</a:t>
            </a:r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r>
              <a:rPr lang="pt-PT" noProof="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tiver a aplicação validada começar a preparar informações para se fazer um artigo.</a:t>
            </a:r>
          </a:p>
          <a:p>
            <a:pPr marL="457200" lvl="1" indent="-228600">
              <a:spcAft>
                <a:spcPts val="600"/>
              </a:spcAft>
              <a:buSzPct val="100000"/>
              <a:buChar char="▪"/>
            </a:pPr>
            <a:endParaRPr lang="pt-PT" sz="16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89A92-E7CB-2D30-B484-597FDBF77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4E13B2-F4AC-D0A1-101E-52FAE006184F}"/>
              </a:ext>
            </a:extLst>
          </p:cNvPr>
          <p:cNvSpPr/>
          <p:nvPr/>
        </p:nvSpPr>
        <p:spPr>
          <a:xfrm>
            <a:off x="548640" y="320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2600" b="1" noProof="0" dirty="0">
                <a:solidFill>
                  <a:srgbClr val="0B3C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 de Inteligência Artificial.</a:t>
            </a:r>
            <a:endParaRPr lang="pt-PT" sz="26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E5F00D-AAA2-2E62-E274-D039AB1E48F1}"/>
              </a:ext>
            </a:extLst>
          </p:cNvPr>
          <p:cNvSpPr/>
          <p:nvPr/>
        </p:nvSpPr>
        <p:spPr>
          <a:xfrm>
            <a:off x="1115568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t-PT" sz="1400" b="1" noProof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PT" sz="14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6435CD-2626-5264-1B5B-AE40E8426D26}"/>
              </a:ext>
            </a:extLst>
          </p:cNvPr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E80A85-D073-6C6A-BC5E-D3663DE73E10}"/>
              </a:ext>
            </a:extLst>
          </p:cNvPr>
          <p:cNvSpPr/>
          <p:nvPr/>
        </p:nvSpPr>
        <p:spPr>
          <a:xfrm>
            <a:off x="457200" y="2590508"/>
            <a:ext cx="11247120" cy="2384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-228600">
              <a:spcAft>
                <a:spcPts val="600"/>
              </a:spcAft>
              <a:buSzPct val="100000"/>
              <a:buChar char="▪"/>
            </a:pPr>
            <a:r>
              <a:rPr lang="pt-PT" sz="1600" dirty="0"/>
              <a:t>Não utilizei </a:t>
            </a:r>
            <a:r>
              <a:rPr lang="pt-PT" sz="1600" dirty="0">
                <a:ea typeface="Trebuchet MS" pitchFamily="34" charset="-122"/>
                <a:cs typeface="Trebuchet MS" pitchFamily="34" charset="-120"/>
              </a:rPr>
              <a:t>Inteligência Artificial para a realização deste PowerPoint.</a:t>
            </a:r>
            <a:endParaRPr lang="pt-PT" sz="1600" noProof="0" dirty="0"/>
          </a:p>
        </p:txBody>
      </p:sp>
    </p:spTree>
    <p:extLst>
      <p:ext uri="{BB962C8B-B14F-4D97-AF65-F5344CB8AC3E}">
        <p14:creationId xmlns:p14="http://schemas.microsoft.com/office/powerpoint/2010/main" val="3237058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1108</Words>
  <Application>Microsoft Office PowerPoint</Application>
  <PresentationFormat>Ecrã Panorâmico</PresentationFormat>
  <Paragraphs>200</Paragraphs>
  <Slides>12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M-PARTY - Plastic-Degrading Enzymes</dc:title>
  <dc:subject>PptxGenJS Presentation</dc:subject>
  <dc:creator>Mestrado Bioinformática Médica - UMinho</dc:creator>
  <cp:lastModifiedBy>David Eduardo Brandão</cp:lastModifiedBy>
  <cp:revision>50</cp:revision>
  <dcterms:created xsi:type="dcterms:W3CDTF">2026-05-28T16:09:27Z</dcterms:created>
  <dcterms:modified xsi:type="dcterms:W3CDTF">2026-06-01T17:26:49Z</dcterms:modified>
</cp:coreProperties>
</file>